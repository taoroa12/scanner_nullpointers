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7" r:id="rId2"/>
    <p:sldId id="281" r:id="rId3"/>
    <p:sldId id="295" r:id="rId4"/>
    <p:sldId id="299" r:id="rId5"/>
    <p:sldId id="294" r:id="rId6"/>
    <p:sldId id="319" r:id="rId7"/>
    <p:sldId id="303" r:id="rId8"/>
    <p:sldId id="282" r:id="rId9"/>
    <p:sldId id="316" r:id="rId10"/>
    <p:sldId id="315" r:id="rId11"/>
    <p:sldId id="301" r:id="rId12"/>
    <p:sldId id="318" r:id="rId13"/>
    <p:sldId id="317" r:id="rId14"/>
    <p:sldId id="305" r:id="rId15"/>
    <p:sldId id="304" r:id="rId16"/>
    <p:sldId id="297" r:id="rId17"/>
    <p:sldId id="311" r:id="rId18"/>
    <p:sldId id="321" r:id="rId19"/>
    <p:sldId id="322" r:id="rId20"/>
    <p:sldId id="296" r:id="rId21"/>
    <p:sldId id="326" r:id="rId22"/>
    <p:sldId id="325" r:id="rId23"/>
    <p:sldId id="307" r:id="rId24"/>
    <p:sldId id="329" r:id="rId25"/>
    <p:sldId id="330" r:id="rId26"/>
    <p:sldId id="290" r:id="rId27"/>
    <p:sldId id="328" r:id="rId28"/>
    <p:sldId id="327" r:id="rId29"/>
    <p:sldId id="324" r:id="rId30"/>
    <p:sldId id="314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3995"/>
    <a:srgbClr val="FFA603"/>
    <a:srgbClr val="DD3241"/>
    <a:srgbClr val="FA751E"/>
    <a:srgbClr val="3882FF"/>
    <a:srgbClr val="010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084" autoAdjust="0"/>
    <p:restoredTop sz="95261" autoAdjust="0"/>
  </p:normalViewPr>
  <p:slideViewPr>
    <p:cSldViewPr snapToGrid="0">
      <p:cViewPr>
        <p:scale>
          <a:sx n="66" d="100"/>
          <a:sy n="66" d="100"/>
        </p:scale>
        <p:origin x="398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A36F9-9EAB-43BB-A515-FDD28FA38F73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B6FBE-A4D8-48C8-8B0D-4ABF11DA6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21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B6FBE-A4D8-48C8-8B0D-4ABF11DA6EA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107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B6FBE-A4D8-48C8-8B0D-4ABF11DA6EA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67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44C42-BA7B-6E9F-2675-3EB0F68A8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6B7B97-68E4-A98D-1B1E-0D60F7E13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4A7683-34CA-D5E0-433E-D7716361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1F0344-E72F-8BAF-9664-57A02411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CDD26A-C8BB-7C8A-AF90-84D5118D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714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AAD5E-A130-B841-5F34-26CD4DC2E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E92F9D-9952-CCD5-E6D1-0C8FF50D9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94EFF0-E1BD-F7D8-8C44-CBA7F448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0421D3-5C46-F4E5-773B-37DFD9AC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9CC555-DEE7-30FC-1529-C18462F6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854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25E86-5F29-3099-B225-82C69A14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9A7F56-1A18-278E-DBFB-B16C89AEE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460DB4-536B-7DA2-96CF-212BAA12A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2C7E7B-343A-591D-C677-5F69CF9C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36C9D5-4FFF-6A2D-8EB5-E2DFD566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6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8F2B9-FC70-119F-56F6-6D3FBD0B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64935D-40EC-1C3A-6316-039110201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D4BFB6-5405-D5F0-F6DC-BE69190F5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7B7154-F36B-7600-7038-7474B3F2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3B4892-F316-A9D6-6300-AB1EA315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3FC217-6543-60C0-8AB1-6088FFDD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00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3A9DA-616C-47B3-F94D-4E3F6724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53988D-4259-5F36-8E08-5A034704C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6DA3C5-F1D1-A957-1C5F-22BF7B8CD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3D79D3-6DE3-D744-9D02-AD9D0E97E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7FF225-D4B5-5D4C-8D27-EFAEE7371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B20343-A498-7E78-0186-E88EF6DF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FD2AFC-7417-B97B-C474-6CE40C25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4A6A1F-0E40-5B20-2F28-CF904C14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71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BB122-AF48-C0F3-F99A-662729E8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39C7C8-8D18-80E3-C995-28C66480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09F88A-7A60-5832-7F6E-A9F3D14C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13D15C-E205-5D67-2010-0ECE039D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75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FDCEC5-B095-D208-D52B-DC90CEB8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DCD7FE5-ACE0-A29F-3C06-F18694AF0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320B5F-7131-3D6E-2188-26316347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44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EB9C5-2662-7FD4-0E58-60457356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460798-6D93-2159-FF1E-1E589E379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3106A8-197E-749F-1968-55BA26327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8475D6-5729-D8C8-345E-20981650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829E12-BCF8-064C-1E94-12E1284E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0EC3D4-A2AD-94EE-55D7-2E7A4FE2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7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2E7D9-6EC2-7DE1-61B0-33813063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9E41C68-ADC0-9A7E-1E7D-60E7A71D2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503B65-DE19-5F09-C9B7-6FFAF954A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E4B102-A1A6-9764-7312-02E12349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382CA8-7AD9-D1B9-F925-54FBC754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449DCB-D338-2CBB-9035-31005CF9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273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9A2F1-1CC2-3C87-EF96-2B2481C7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0B935D-A7CF-E0CE-4DFA-43EB25E87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B9497-7381-2FD5-8371-5DE6635A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EACFDA-6388-B08E-169B-AD6BD299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C2BF9B-234B-25BA-8E64-0FAD31A5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184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A57F07-8CED-DABC-8E3C-7D1905045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7D9DA8A-02C8-AE65-5A1E-E4FF0D106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9084C8-B6BC-9882-7CAA-1A441EE2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6E549F-0965-FC37-AFD5-55B7C5E0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CD777F-58D9-36A5-EFEF-3BC631D0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62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5AB68-9BE3-2747-9517-F9C26C24F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265D42-24F0-204B-B63F-CBE4DD29D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F07BDC-A90C-8379-BB4B-BD1333042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A9B9D-7F75-4F4D-B846-7D48B5F9084C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6CB2D3-25AC-2D2A-06C7-269B62C6F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67EE3-F0A4-5B7B-0B4D-2BAA4EF4B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7E8F0-4660-474F-8FCA-00DF938E9A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51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95C7ED-7D76-8AFF-FBD8-21BDA7085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939BD9-8FFF-1FB7-14B1-F69143677BFF}"/>
              </a:ext>
            </a:extLst>
          </p:cNvPr>
          <p:cNvSpPr txBox="1"/>
          <p:nvPr/>
        </p:nvSpPr>
        <p:spPr>
          <a:xfrm>
            <a:off x="281917" y="48853"/>
            <a:ext cx="53086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600" b="1" dirty="0">
                <a:solidFill>
                  <a:schemeClr val="bg1"/>
                </a:solidFill>
              </a:rPr>
              <a:t>Null</a:t>
            </a:r>
            <a:endParaRPr lang="ru-RU" sz="96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9600" b="1" dirty="0">
                <a:solidFill>
                  <a:schemeClr val="bg1"/>
                </a:solidFill>
              </a:rPr>
              <a:t>Pointers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5AC1FC-CD7B-457C-3AEC-A3EE9FDE3F46}"/>
              </a:ext>
            </a:extLst>
          </p:cNvPr>
          <p:cNvSpPr/>
          <p:nvPr/>
        </p:nvSpPr>
        <p:spPr>
          <a:xfrm>
            <a:off x="1866486" y="3348125"/>
            <a:ext cx="2720050" cy="2720050"/>
          </a:xfrm>
          <a:prstGeom prst="rect">
            <a:avLst/>
          </a:prstGeom>
          <a:solidFill>
            <a:srgbClr val="DD32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6CD77D6-2911-1135-F633-58A30062E8F0}"/>
              </a:ext>
            </a:extLst>
          </p:cNvPr>
          <p:cNvSpPr/>
          <p:nvPr/>
        </p:nvSpPr>
        <p:spPr>
          <a:xfrm>
            <a:off x="8516714" y="1873528"/>
            <a:ext cx="2720050" cy="2720050"/>
          </a:xfrm>
          <a:prstGeom prst="rect">
            <a:avLst/>
          </a:prstGeom>
          <a:solidFill>
            <a:srgbClr val="FFA6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DA29088-B22E-3B9B-A559-F86F864BB161}"/>
              </a:ext>
            </a:extLst>
          </p:cNvPr>
          <p:cNvSpPr/>
          <p:nvPr/>
        </p:nvSpPr>
        <p:spPr>
          <a:xfrm>
            <a:off x="5241405" y="3695753"/>
            <a:ext cx="2720050" cy="2720050"/>
          </a:xfrm>
          <a:prstGeom prst="rect">
            <a:avLst/>
          </a:prstGeom>
          <a:solidFill>
            <a:srgbClr val="388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400A85-1DF1-1BE3-2BB1-50CA06693D8E}"/>
              </a:ext>
            </a:extLst>
          </p:cNvPr>
          <p:cNvSpPr txBox="1"/>
          <p:nvPr/>
        </p:nvSpPr>
        <p:spPr>
          <a:xfrm>
            <a:off x="2376255" y="4169541"/>
            <a:ext cx="17005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Рябова Анна</a:t>
            </a:r>
            <a:endParaRPr lang="ru-RU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89213-4D38-856F-3098-44ED423B2B47}"/>
              </a:ext>
            </a:extLst>
          </p:cNvPr>
          <p:cNvSpPr txBox="1"/>
          <p:nvPr/>
        </p:nvSpPr>
        <p:spPr>
          <a:xfrm>
            <a:off x="5751174" y="4505982"/>
            <a:ext cx="17005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Попов Никита</a:t>
            </a:r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6AFF6-B484-1E28-F13A-9CC355348CA5}"/>
              </a:ext>
            </a:extLst>
          </p:cNvPr>
          <p:cNvSpPr txBox="1"/>
          <p:nvPr/>
        </p:nvSpPr>
        <p:spPr>
          <a:xfrm>
            <a:off x="8910253" y="2674286"/>
            <a:ext cx="21058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Морковки Никита</a:t>
            </a:r>
            <a:endParaRPr lang="ru-RU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29C0F-2FD1-8E78-7BDB-15DE78685822}"/>
              </a:ext>
            </a:extLst>
          </p:cNvPr>
          <p:cNvSpPr txBox="1"/>
          <p:nvPr/>
        </p:nvSpPr>
        <p:spPr>
          <a:xfrm>
            <a:off x="6601430" y="225452"/>
            <a:ext cx="63082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7000" b="1" dirty="0">
                <a:solidFill>
                  <a:schemeClr val="bg1"/>
                </a:solidFill>
              </a:rPr>
              <a:t>Кейс КРОК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BC819943-1A9D-1D7B-9EF2-676E4F36E6A7}"/>
              </a:ext>
            </a:extLst>
          </p:cNvPr>
          <p:cNvCxnSpPr>
            <a:cxnSpLocks/>
          </p:cNvCxnSpPr>
          <p:nvPr/>
        </p:nvCxnSpPr>
        <p:spPr>
          <a:xfrm>
            <a:off x="2936244" y="810228"/>
            <a:ext cx="3159756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1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6BA1-DEF7-DA06-2B17-D5796F4B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654496-1A20-5055-B8C0-B7574F2C97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F40203-EFE6-2F6C-E68D-7E1C8C8678B8}"/>
              </a:ext>
            </a:extLst>
          </p:cNvPr>
          <p:cNvSpPr/>
          <p:nvPr/>
        </p:nvSpPr>
        <p:spPr>
          <a:xfrm>
            <a:off x="1378833" y="4714723"/>
            <a:ext cx="4009181" cy="1896382"/>
          </a:xfrm>
          <a:prstGeom prst="rect">
            <a:avLst/>
          </a:prstGeom>
          <a:solidFill>
            <a:srgbClr val="FA75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42C84C-9FA5-0031-F8EE-E0C83229F47E}"/>
              </a:ext>
            </a:extLst>
          </p:cNvPr>
          <p:cNvSpPr/>
          <p:nvPr/>
        </p:nvSpPr>
        <p:spPr>
          <a:xfrm>
            <a:off x="342899" y="1090038"/>
            <a:ext cx="4784685" cy="337779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F391365-3AA7-FFCC-9C29-9B2FF17C4290}"/>
              </a:ext>
            </a:extLst>
          </p:cNvPr>
          <p:cNvSpPr/>
          <p:nvPr/>
        </p:nvSpPr>
        <p:spPr>
          <a:xfrm>
            <a:off x="5648446" y="1782500"/>
            <a:ext cx="6298278" cy="3402957"/>
          </a:xfrm>
          <a:prstGeom prst="rect">
            <a:avLst/>
          </a:prstGeom>
          <a:solidFill>
            <a:srgbClr val="388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B4CC3-69DB-DA99-A137-8B333DF2C830}"/>
              </a:ext>
            </a:extLst>
          </p:cNvPr>
          <p:cNvSpPr txBox="1"/>
          <p:nvPr/>
        </p:nvSpPr>
        <p:spPr>
          <a:xfrm>
            <a:off x="342900" y="210225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ptos Black" panose="020B0004020202020204" pitchFamily="34" charset="0"/>
              </a:rPr>
              <a:t>Задача кейса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617B-E04B-08AF-09D6-E6E6DFDBAC14}"/>
              </a:ext>
            </a:extLst>
          </p:cNvPr>
          <p:cNvSpPr txBox="1"/>
          <p:nvPr/>
        </p:nvSpPr>
        <p:spPr>
          <a:xfrm>
            <a:off x="342900" y="1228217"/>
            <a:ext cx="47846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Задача:</a:t>
            </a:r>
          </a:p>
          <a:p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Разработайте инструмент для поиска утечек секретов в локальном</a:t>
            </a:r>
          </a:p>
          <a:p>
            <a:r>
              <a:rPr lang="ru-RU" dirty="0">
                <a:solidFill>
                  <a:schemeClr val="bg1"/>
                </a:solidFill>
              </a:rPr>
              <a:t>проекте. Решение должно находить API-ключи, токены и другие</a:t>
            </a:r>
          </a:p>
          <a:p>
            <a:r>
              <a:rPr lang="ru-RU" dirty="0">
                <a:solidFill>
                  <a:schemeClr val="bg1"/>
                </a:solidFill>
              </a:rPr>
              <a:t>чувствительные данные по типовым паттернам, ранжировать находки</a:t>
            </a:r>
          </a:p>
          <a:p>
            <a:r>
              <a:rPr lang="ru-RU" dirty="0">
                <a:solidFill>
                  <a:schemeClr val="bg1"/>
                </a:solidFill>
              </a:rPr>
              <a:t>по уровню критичности и формировать отчёт с указанием файла,</a:t>
            </a:r>
          </a:p>
          <a:p>
            <a:r>
              <a:rPr lang="ru-RU" dirty="0">
                <a:solidFill>
                  <a:schemeClr val="bg1"/>
                </a:solidFill>
              </a:rPr>
              <a:t>строки и типа потенциальной утечки.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AF9B4-0167-B47F-7EF4-5A9B8C2FF817}"/>
              </a:ext>
            </a:extLst>
          </p:cNvPr>
          <p:cNvSpPr txBox="1"/>
          <p:nvPr/>
        </p:nvSpPr>
        <p:spPr>
          <a:xfrm>
            <a:off x="5753100" y="203132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Задачи системы: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1. Сканирование файлов проекта ( </a:t>
            </a:r>
          </a:p>
          <a:p>
            <a:r>
              <a:rPr lang="ru-RU" dirty="0">
                <a:solidFill>
                  <a:schemeClr val="bg1"/>
                </a:solidFill>
              </a:rPr>
              <a:t>2. Поиск потенциальных секретов по типовым паттернам (API-ключи,</a:t>
            </a:r>
          </a:p>
          <a:p>
            <a:r>
              <a:rPr lang="ru-RU" dirty="0">
                <a:solidFill>
                  <a:schemeClr val="bg1"/>
                </a:solidFill>
              </a:rPr>
              <a:t>3. Определение уровня критичности обнаруженной находки</a:t>
            </a:r>
          </a:p>
          <a:p>
            <a:r>
              <a:rPr lang="ru-RU" dirty="0">
                <a:solidFill>
                  <a:schemeClr val="bg1"/>
                </a:solidFill>
              </a:rPr>
              <a:t>4. Формирование отчета, содержащего:  путь к файлу,</a:t>
            </a:r>
          </a:p>
          <a:p>
            <a:r>
              <a:rPr lang="ru-RU" dirty="0">
                <a:solidFill>
                  <a:schemeClr val="bg1"/>
                </a:solidFill>
              </a:rPr>
              <a:t>o номер строки, o тип обнаруженного секрета, o уровень риска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F4C9E-4865-B45E-2FAE-CA8DE062F251}"/>
              </a:ext>
            </a:extLst>
          </p:cNvPr>
          <p:cNvSpPr txBox="1"/>
          <p:nvPr/>
        </p:nvSpPr>
        <p:spPr>
          <a:xfrm>
            <a:off x="1454067" y="4785751"/>
            <a:ext cx="61461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Проблематика: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Человеческий фактор</a:t>
            </a:r>
          </a:p>
          <a:p>
            <a:r>
              <a:rPr lang="ru-RU" dirty="0">
                <a:solidFill>
                  <a:schemeClr val="bg1"/>
                </a:solidFill>
              </a:rPr>
              <a:t>Риск публикации секретов </a:t>
            </a:r>
          </a:p>
          <a:p>
            <a:r>
              <a:rPr lang="ru-RU" dirty="0">
                <a:solidFill>
                  <a:schemeClr val="bg1"/>
                </a:solidFill>
              </a:rPr>
              <a:t>Сложность контроля безопасности  </a:t>
            </a:r>
          </a:p>
          <a:p>
            <a:r>
              <a:rPr lang="ru-RU" dirty="0">
                <a:solidFill>
                  <a:schemeClr val="bg1"/>
                </a:solidFill>
              </a:rPr>
              <a:t>Отсутствие автоматизации</a:t>
            </a:r>
          </a:p>
        </p:txBody>
      </p:sp>
    </p:spTree>
    <p:extLst>
      <p:ext uri="{BB962C8B-B14F-4D97-AF65-F5344CB8AC3E}">
        <p14:creationId xmlns:p14="http://schemas.microsoft.com/office/powerpoint/2010/main" val="2283953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2D2D-7644-2923-0A30-3D188487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070A44-D169-1AD9-B9A2-17D24AC84F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E693D4-984F-8AC1-9363-1F448232E1DD}"/>
              </a:ext>
            </a:extLst>
          </p:cNvPr>
          <p:cNvSpPr/>
          <p:nvPr/>
        </p:nvSpPr>
        <p:spPr>
          <a:xfrm>
            <a:off x="8014632" y="4088617"/>
            <a:ext cx="2926434" cy="2423943"/>
          </a:xfrm>
          <a:prstGeom prst="rect">
            <a:avLst/>
          </a:prstGeom>
          <a:solidFill>
            <a:srgbClr val="DD32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DD324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37CA7F-1BF9-BD26-2284-E55C09596F5F}"/>
              </a:ext>
            </a:extLst>
          </p:cNvPr>
          <p:cNvSpPr/>
          <p:nvPr/>
        </p:nvSpPr>
        <p:spPr>
          <a:xfrm>
            <a:off x="4397479" y="3250851"/>
            <a:ext cx="2926434" cy="1754326"/>
          </a:xfrm>
          <a:prstGeom prst="rect">
            <a:avLst/>
          </a:prstGeom>
          <a:solidFill>
            <a:srgbClr val="FA75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DD324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088E39-6F59-E07C-F0B6-7E631EA944AA}"/>
              </a:ext>
            </a:extLst>
          </p:cNvPr>
          <p:cNvSpPr/>
          <p:nvPr/>
        </p:nvSpPr>
        <p:spPr>
          <a:xfrm>
            <a:off x="1046480" y="2183701"/>
            <a:ext cx="2926434" cy="2134299"/>
          </a:xfrm>
          <a:prstGeom prst="rect">
            <a:avLst/>
          </a:prstGeom>
          <a:solidFill>
            <a:srgbClr val="FFA6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D678B-BD8A-4D26-5027-8AF8A57ECEE1}"/>
              </a:ext>
            </a:extLst>
          </p:cNvPr>
          <p:cNvSpPr txBox="1"/>
          <p:nvPr/>
        </p:nvSpPr>
        <p:spPr>
          <a:xfrm>
            <a:off x="7915912" y="3233580"/>
            <a:ext cx="2883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CLI </a:t>
            </a:r>
            <a:r>
              <a:rPr lang="ru-RU" sz="2400" dirty="0">
                <a:solidFill>
                  <a:schemeClr val="bg1"/>
                </a:solidFill>
              </a:rPr>
              <a:t>интерфейс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678A59-1473-C59D-0A0E-21ED97AB23F8}"/>
              </a:ext>
            </a:extLst>
          </p:cNvPr>
          <p:cNvSpPr txBox="1"/>
          <p:nvPr/>
        </p:nvSpPr>
        <p:spPr>
          <a:xfrm>
            <a:off x="4397479" y="2530474"/>
            <a:ext cx="2926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Web-</a:t>
            </a:r>
            <a:r>
              <a:rPr lang="ru-RU" sz="2400" dirty="0">
                <a:solidFill>
                  <a:schemeClr val="bg1"/>
                </a:solidFill>
              </a:rPr>
              <a:t>интерфейс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8CC7B-21D1-ECCC-88E4-28439E1728F7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Aptos Black" panose="020B0004020202020204" pitchFamily="34" charset="0"/>
              </a:rPr>
              <a:t>Формат реализации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05ED9-25A2-2C11-77DF-C47B17C03214}"/>
              </a:ext>
            </a:extLst>
          </p:cNvPr>
          <p:cNvSpPr txBox="1"/>
          <p:nvPr/>
        </p:nvSpPr>
        <p:spPr>
          <a:xfrm>
            <a:off x="8084046" y="4229031"/>
            <a:ext cx="29688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Позволяет легко встраивать в CI/CD </a:t>
            </a:r>
            <a:r>
              <a:rPr lang="ru-RU" dirty="0" err="1">
                <a:solidFill>
                  <a:schemeClr val="bg1"/>
                </a:solidFill>
              </a:rPr>
              <a:t>пайплайны</a:t>
            </a:r>
            <a:r>
              <a:rPr lang="ru-RU" dirty="0">
                <a:solidFill>
                  <a:schemeClr val="bg1"/>
                </a:solidFill>
              </a:rPr>
              <a:t>, обеспечивая безопасность на всех этапах разработки, прямой доступ к </a:t>
            </a:r>
            <a:r>
              <a:rPr lang="ru-RU" dirty="0" err="1">
                <a:solidFill>
                  <a:schemeClr val="bg1"/>
                </a:solidFill>
              </a:rPr>
              <a:t>Scanner</a:t>
            </a:r>
            <a:r>
              <a:rPr lang="ru-RU" dirty="0">
                <a:solidFill>
                  <a:schemeClr val="bg1"/>
                </a:solidFill>
              </a:rPr>
              <a:t> Engine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E2610-FBD5-E58F-D536-A007CD2EDA4C}"/>
              </a:ext>
            </a:extLst>
          </p:cNvPr>
          <p:cNvSpPr txBox="1"/>
          <p:nvPr/>
        </p:nvSpPr>
        <p:spPr>
          <a:xfrm>
            <a:off x="4397479" y="3488452"/>
            <a:ext cx="29688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Позволяет визуально анализировать результаты работы сканера,  обращается к </a:t>
            </a:r>
            <a:r>
              <a:rPr lang="en-US" dirty="0">
                <a:solidFill>
                  <a:schemeClr val="bg1"/>
                </a:solidFill>
              </a:rPr>
              <a:t>API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3470B-B69C-8BB0-D156-D14F5C61FB37}"/>
              </a:ext>
            </a:extLst>
          </p:cNvPr>
          <p:cNvSpPr txBox="1"/>
          <p:nvPr/>
        </p:nvSpPr>
        <p:spPr>
          <a:xfrm>
            <a:off x="1337695" y="1559223"/>
            <a:ext cx="2106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API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5E25DB-C4B0-ED2F-F19D-0A1B589A4DE2}"/>
              </a:ext>
            </a:extLst>
          </p:cNvPr>
          <p:cNvSpPr txBox="1"/>
          <p:nvPr/>
        </p:nvSpPr>
        <p:spPr>
          <a:xfrm>
            <a:off x="1146279" y="2334291"/>
            <a:ext cx="29264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Позволяет сервисам и приложениям взаимодействовать со сканером секретов через HTTP-запросы, прямой доступ к </a:t>
            </a:r>
            <a:r>
              <a:rPr lang="ru-RU" dirty="0" err="1">
                <a:solidFill>
                  <a:schemeClr val="bg1"/>
                </a:solidFill>
              </a:rPr>
              <a:t>Scanner</a:t>
            </a:r>
            <a:r>
              <a:rPr lang="ru-RU" dirty="0">
                <a:solidFill>
                  <a:schemeClr val="bg1"/>
                </a:solidFill>
              </a:rPr>
              <a:t> Engine</a:t>
            </a:r>
          </a:p>
        </p:txBody>
      </p:sp>
    </p:spTree>
    <p:extLst>
      <p:ext uri="{BB962C8B-B14F-4D97-AF65-F5344CB8AC3E}">
        <p14:creationId xmlns:p14="http://schemas.microsoft.com/office/powerpoint/2010/main" val="172031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54222-8DCC-82F7-6137-E363CE9F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AEF30A-9EC2-A1F5-8129-8A44CAC3F3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52C425-D7CB-4F3A-0E7B-B34976EFD361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Технический стек для разработки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5CF46-89CF-4D08-FB18-86E29AFA8539}"/>
              </a:ext>
            </a:extLst>
          </p:cNvPr>
          <p:cNvSpPr txBox="1"/>
          <p:nvPr/>
        </p:nvSpPr>
        <p:spPr>
          <a:xfrm>
            <a:off x="599440" y="4224724"/>
            <a:ext cx="49733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882FF"/>
                </a:solidFill>
              </a:rPr>
              <a:t>Backend (API): </a:t>
            </a:r>
            <a:r>
              <a:rPr lang="en-US" dirty="0" err="1">
                <a:solidFill>
                  <a:schemeClr val="bg1"/>
                </a:solidFill>
              </a:rPr>
              <a:t>FastAPI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Uvicorn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Pydantic</a:t>
            </a:r>
            <a:r>
              <a:rPr lang="en-US" dirty="0">
                <a:solidFill>
                  <a:schemeClr val="bg1"/>
                </a:solidFill>
              </a:rPr>
              <a:t> V2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FastAPI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обеспечивает асинхронную обработку запросов</a:t>
            </a:r>
          </a:p>
          <a:p>
            <a:r>
              <a:rPr lang="en-US" dirty="0" err="1">
                <a:solidFill>
                  <a:schemeClr val="bg1"/>
                </a:solidFill>
              </a:rPr>
              <a:t>Pydantic</a:t>
            </a:r>
            <a:r>
              <a:rPr lang="en-US" dirty="0">
                <a:solidFill>
                  <a:schemeClr val="bg1"/>
                </a:solidFill>
              </a:rPr>
              <a:t> V2 (</a:t>
            </a:r>
            <a:r>
              <a:rPr lang="ru-RU" dirty="0">
                <a:solidFill>
                  <a:schemeClr val="bg1"/>
                </a:solidFill>
              </a:rPr>
              <a:t>написан на </a:t>
            </a:r>
            <a:r>
              <a:rPr lang="en-US" dirty="0">
                <a:solidFill>
                  <a:schemeClr val="bg1"/>
                </a:solidFill>
              </a:rPr>
              <a:t>Rust) </a:t>
            </a:r>
            <a:r>
              <a:rPr lang="ru-RU" dirty="0">
                <a:solidFill>
                  <a:schemeClr val="bg1"/>
                </a:solidFill>
              </a:rPr>
              <a:t>дает строгую типизацию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34C3E-011F-4D6B-F2D9-FFDFEBD3940D}"/>
              </a:ext>
            </a:extLst>
          </p:cNvPr>
          <p:cNvSpPr txBox="1"/>
          <p:nvPr/>
        </p:nvSpPr>
        <p:spPr>
          <a:xfrm>
            <a:off x="599440" y="1213009"/>
            <a:ext cx="4739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A603"/>
                </a:solidFill>
              </a:rPr>
              <a:t>Core Logic: </a:t>
            </a:r>
            <a:r>
              <a:rPr lang="en-US" dirty="0">
                <a:solidFill>
                  <a:schemeClr val="bg1"/>
                </a:solidFill>
              </a:rPr>
              <a:t>Pure Python 3.11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Ядро сканера не использует тяжелых сторонних фреймворков. Вся работа с файлами, архивами (</a:t>
            </a:r>
            <a:r>
              <a:rPr lang="en-US" dirty="0" err="1">
                <a:solidFill>
                  <a:schemeClr val="bg1"/>
                </a:solidFill>
              </a:rPr>
              <a:t>zipfile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ru-RU" dirty="0">
                <a:solidFill>
                  <a:schemeClr val="bg1"/>
                </a:solidFill>
              </a:rPr>
              <a:t>и математикой (</a:t>
            </a:r>
            <a:r>
              <a:rPr lang="en-US" dirty="0">
                <a:solidFill>
                  <a:schemeClr val="bg1"/>
                </a:solidFill>
              </a:rPr>
              <a:t>math) </a:t>
            </a:r>
            <a:r>
              <a:rPr lang="ru-RU" dirty="0">
                <a:solidFill>
                  <a:schemeClr val="bg1"/>
                </a:solidFill>
              </a:rPr>
              <a:t>реализована на стандартной библиотеке </a:t>
            </a:r>
            <a:r>
              <a:rPr lang="en-US" dirty="0">
                <a:solidFill>
                  <a:schemeClr val="bg1"/>
                </a:solidFill>
              </a:rPr>
              <a:t>Python, </a:t>
            </a:r>
            <a:r>
              <a:rPr lang="ru-RU" dirty="0">
                <a:solidFill>
                  <a:schemeClr val="bg1"/>
                </a:solidFill>
              </a:rPr>
              <a:t>что делает сканер сверхбыстрым и переносимым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E4E13-3789-5F9C-3186-64AE92475945}"/>
              </a:ext>
            </a:extLst>
          </p:cNvPr>
          <p:cNvSpPr txBox="1"/>
          <p:nvPr/>
        </p:nvSpPr>
        <p:spPr>
          <a:xfrm>
            <a:off x="6852922" y="3837178"/>
            <a:ext cx="45516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683995"/>
                </a:solidFill>
              </a:rPr>
              <a:t>Frontend: </a:t>
            </a:r>
            <a:r>
              <a:rPr lang="en-US" dirty="0">
                <a:solidFill>
                  <a:schemeClr val="bg1"/>
                </a:solidFill>
              </a:rPr>
              <a:t>Next.js 14 (App Router) + Tailwind CSS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Обеспечивает быстрый рендеринг и удобную адаптивную верстку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Скомпилирован в режиме </a:t>
            </a:r>
            <a:r>
              <a:rPr lang="en-US" dirty="0">
                <a:solidFill>
                  <a:schemeClr val="bg1"/>
                </a:solidFill>
              </a:rPr>
              <a:t>standalone, </a:t>
            </a:r>
            <a:r>
              <a:rPr lang="ru-RU" dirty="0">
                <a:solidFill>
                  <a:schemeClr val="bg1"/>
                </a:solidFill>
              </a:rPr>
              <a:t>что радикально уменьшает вес </a:t>
            </a:r>
            <a:r>
              <a:rPr lang="en-US" dirty="0">
                <a:solidFill>
                  <a:schemeClr val="bg1"/>
                </a:solidFill>
              </a:rPr>
              <a:t>Docker-</a:t>
            </a:r>
            <a:r>
              <a:rPr lang="ru-RU" dirty="0">
                <a:solidFill>
                  <a:schemeClr val="bg1"/>
                </a:solidFill>
              </a:rPr>
              <a:t>образа.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75C16-1219-E50B-1E32-D9C3E443E580}"/>
              </a:ext>
            </a:extLst>
          </p:cNvPr>
          <p:cNvSpPr txBox="1"/>
          <p:nvPr/>
        </p:nvSpPr>
        <p:spPr>
          <a:xfrm>
            <a:off x="6751322" y="1213009"/>
            <a:ext cx="47548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DD3241"/>
                </a:solidFill>
              </a:rPr>
              <a:t>Инфраструктура: </a:t>
            </a:r>
            <a:r>
              <a:rPr lang="en-US" dirty="0">
                <a:solidFill>
                  <a:schemeClr val="bg1"/>
                </a:solidFill>
              </a:rPr>
              <a:t>Docker + Docker Compose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Гарантирует, что проект запустится одинаково на </a:t>
            </a:r>
            <a:r>
              <a:rPr lang="en-US" dirty="0">
                <a:solidFill>
                  <a:schemeClr val="bg1"/>
                </a:solidFill>
              </a:rPr>
              <a:t>Mac, Windows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en-US" dirty="0">
                <a:solidFill>
                  <a:schemeClr val="bg1"/>
                </a:solidFill>
              </a:rPr>
              <a:t>Linux </a:t>
            </a:r>
          </a:p>
        </p:txBody>
      </p:sp>
    </p:spTree>
    <p:extLst>
      <p:ext uri="{BB962C8B-B14F-4D97-AF65-F5344CB8AC3E}">
        <p14:creationId xmlns:p14="http://schemas.microsoft.com/office/powerpoint/2010/main" val="178100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70A2-84E0-99AE-1A9C-7ECCE086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814C5D-EFEA-11EC-303A-51BFDB78E3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336E48A-1F7E-0CEF-4391-76354AF33A2C}"/>
              </a:ext>
            </a:extLst>
          </p:cNvPr>
          <p:cNvSpPr/>
          <p:nvPr/>
        </p:nvSpPr>
        <p:spPr>
          <a:xfrm>
            <a:off x="221329" y="3700619"/>
            <a:ext cx="5869077" cy="3003492"/>
          </a:xfrm>
          <a:prstGeom prst="rect">
            <a:avLst/>
          </a:prstGeom>
          <a:solidFill>
            <a:srgbClr val="FFA6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17EB19B-BEA1-4EAC-599A-650AD89DCAE4}"/>
              </a:ext>
            </a:extLst>
          </p:cNvPr>
          <p:cNvSpPr/>
          <p:nvPr/>
        </p:nvSpPr>
        <p:spPr>
          <a:xfrm>
            <a:off x="6223478" y="2887682"/>
            <a:ext cx="5913434" cy="3753363"/>
          </a:xfrm>
          <a:prstGeom prst="rect">
            <a:avLst/>
          </a:prstGeom>
          <a:solidFill>
            <a:srgbClr val="DD32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AA0EC9-DCDB-B3D1-C1DA-4CE765D022FA}"/>
              </a:ext>
            </a:extLst>
          </p:cNvPr>
          <p:cNvSpPr/>
          <p:nvPr/>
        </p:nvSpPr>
        <p:spPr>
          <a:xfrm>
            <a:off x="6189852" y="307777"/>
            <a:ext cx="5658476" cy="2261803"/>
          </a:xfrm>
          <a:prstGeom prst="rect">
            <a:avLst/>
          </a:prstGeom>
          <a:solidFill>
            <a:srgbClr val="FFA6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54768F1-68AC-A38D-05E7-07CDFACC293B}"/>
              </a:ext>
            </a:extLst>
          </p:cNvPr>
          <p:cNvSpPr/>
          <p:nvPr/>
        </p:nvSpPr>
        <p:spPr>
          <a:xfrm>
            <a:off x="221329" y="1074067"/>
            <a:ext cx="5780820" cy="2431435"/>
          </a:xfrm>
          <a:prstGeom prst="rect">
            <a:avLst/>
          </a:prstGeom>
          <a:solidFill>
            <a:srgbClr val="DD32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B0E775-5AA2-567F-ED4F-8FC7713DBCC2}"/>
              </a:ext>
            </a:extLst>
          </p:cNvPr>
          <p:cNvSpPr txBox="1"/>
          <p:nvPr/>
        </p:nvSpPr>
        <p:spPr>
          <a:xfrm>
            <a:off x="265687" y="1111569"/>
            <a:ext cx="565847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1) Client Layer (Слой взаимодействия):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Web UI (Next.js): Графический интерфейс для CISO и менеджеров. Отправляет файлы/ссылки по REST API.</a:t>
            </a:r>
          </a:p>
          <a:p>
            <a:endParaRPr lang="ru-RU" sz="80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CLI-интерфейс: Прямой доступ к ядру для инженеров и автоматизированных </a:t>
            </a:r>
            <a:r>
              <a:rPr lang="ru-RU" dirty="0" err="1">
                <a:solidFill>
                  <a:schemeClr val="bg1"/>
                </a:solidFill>
              </a:rPr>
              <a:t>пайплайнов</a:t>
            </a:r>
            <a:r>
              <a:rPr lang="ru-RU" dirty="0">
                <a:solidFill>
                  <a:schemeClr val="bg1"/>
                </a:solidFill>
              </a:rPr>
              <a:t> (минуя веб-сервер)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1AFD4-2D97-43CE-772B-9C6D461BCD95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Архитектура решения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5C032-35A2-D80E-90FC-86AAD9D61F1C}"/>
              </a:ext>
            </a:extLst>
          </p:cNvPr>
          <p:cNvSpPr txBox="1"/>
          <p:nvPr/>
        </p:nvSpPr>
        <p:spPr>
          <a:xfrm>
            <a:off x="6189852" y="2887682"/>
            <a:ext cx="597991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3) Core Engine (Ядро сканера):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Абсолютно независимо от API. Может работать как самостоятельная библиотека</a:t>
            </a:r>
          </a:p>
          <a:p>
            <a:endParaRPr lang="ru-RU" sz="80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Включает </a:t>
            </a:r>
            <a:r>
              <a:rPr lang="ru-RU" dirty="0" err="1">
                <a:solidFill>
                  <a:schemeClr val="bg1"/>
                </a:solidFill>
              </a:rPr>
              <a:t>FileHandler</a:t>
            </a:r>
            <a:r>
              <a:rPr lang="ru-RU" dirty="0">
                <a:solidFill>
                  <a:schemeClr val="bg1"/>
                </a:solidFill>
              </a:rPr>
              <a:t> (распаковка во временные папки ОС, фильтрация .</a:t>
            </a:r>
            <a:r>
              <a:rPr lang="ru-RU" dirty="0" err="1">
                <a:solidFill>
                  <a:schemeClr val="bg1"/>
                </a:solidFill>
              </a:rPr>
              <a:t>secretignore</a:t>
            </a:r>
            <a:r>
              <a:rPr lang="ru-RU" dirty="0">
                <a:solidFill>
                  <a:schemeClr val="bg1"/>
                </a:solidFill>
              </a:rPr>
              <a:t>, отсев </a:t>
            </a:r>
            <a:r>
              <a:rPr lang="ru-RU" dirty="0" err="1">
                <a:solidFill>
                  <a:schemeClr val="bg1"/>
                </a:solidFill>
              </a:rPr>
              <a:t>бинарников</a:t>
            </a:r>
            <a:r>
              <a:rPr lang="ru-RU" dirty="0">
                <a:solidFill>
                  <a:schemeClr val="bg1"/>
                </a:solidFill>
              </a:rPr>
              <a:t> по \x00 байту)</a:t>
            </a:r>
          </a:p>
          <a:p>
            <a:endParaRPr lang="ru-RU" sz="80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Реализует гибридный поиск: заранее скомпилированные регулярные выражения + математический расчет Энтропии Шеннона. Оснащен </a:t>
            </a:r>
            <a:r>
              <a:rPr lang="ru-RU" dirty="0" err="1">
                <a:solidFill>
                  <a:schemeClr val="bg1"/>
                </a:solidFill>
              </a:rPr>
              <a:t>автоподбором</a:t>
            </a:r>
            <a:r>
              <a:rPr lang="ru-RU" dirty="0">
                <a:solidFill>
                  <a:schemeClr val="bg1"/>
                </a:solidFill>
              </a:rPr>
              <a:t> кодировок (UTF-8, cp1251), чтобы не падать на легаси-коде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FF8C5-248C-17CD-8EF5-0981A66B957D}"/>
              </a:ext>
            </a:extLst>
          </p:cNvPr>
          <p:cNvSpPr txBox="1"/>
          <p:nvPr/>
        </p:nvSpPr>
        <p:spPr>
          <a:xfrm>
            <a:off x="6190623" y="307777"/>
            <a:ext cx="565847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4) </a:t>
            </a:r>
            <a:r>
              <a:rPr lang="ru-RU" dirty="0" err="1">
                <a:solidFill>
                  <a:schemeClr val="bg1"/>
                </a:solidFill>
              </a:rPr>
              <a:t>Persistence</a:t>
            </a:r>
            <a:r>
              <a:rPr lang="ru-RU" dirty="0">
                <a:solidFill>
                  <a:schemeClr val="bg1"/>
                </a:solidFill>
              </a:rPr>
              <a:t> Layer (Слой хранения):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Отказ от тяжелых реляционных БД (</a:t>
            </a:r>
            <a:r>
              <a:rPr lang="ru-RU" dirty="0" err="1">
                <a:solidFill>
                  <a:schemeClr val="bg1"/>
                </a:solidFill>
              </a:rPr>
              <a:t>PostgreSQL</a:t>
            </a:r>
            <a:r>
              <a:rPr lang="ru-RU" dirty="0">
                <a:solidFill>
                  <a:schemeClr val="bg1"/>
                </a:solidFill>
              </a:rPr>
              <a:t>) в пользу скорости и безопасности (Zero-</a:t>
            </a:r>
            <a:r>
              <a:rPr lang="ru-RU" dirty="0" err="1">
                <a:solidFill>
                  <a:schemeClr val="bg1"/>
                </a:solidFill>
              </a:rPr>
              <a:t>Trace</a:t>
            </a:r>
            <a:r>
              <a:rPr lang="ru-RU" dirty="0">
                <a:solidFill>
                  <a:schemeClr val="bg1"/>
                </a:solidFill>
              </a:rPr>
              <a:t>).</a:t>
            </a:r>
          </a:p>
          <a:p>
            <a:endParaRPr lang="ru-RU" sz="80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Системные и пользовательские правила хранятся в легковесных .</a:t>
            </a:r>
            <a:r>
              <a:rPr lang="ru-RU" dirty="0" err="1">
                <a:solidFill>
                  <a:schemeClr val="bg1"/>
                </a:solidFill>
              </a:rPr>
              <a:t>yaml</a:t>
            </a:r>
            <a:r>
              <a:rPr lang="ru-RU" dirty="0">
                <a:solidFill>
                  <a:schemeClr val="bg1"/>
                </a:solidFill>
              </a:rPr>
              <a:t> файлах, что позволяет легко переносить их между серверами.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E0B2A8-5106-AFBF-1645-D5833C9A45DC}"/>
              </a:ext>
            </a:extLst>
          </p:cNvPr>
          <p:cNvSpPr txBox="1"/>
          <p:nvPr/>
        </p:nvSpPr>
        <p:spPr>
          <a:xfrm>
            <a:off x="265687" y="3841789"/>
            <a:ext cx="582471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2) API Layer (Слой </a:t>
            </a:r>
            <a:r>
              <a:rPr lang="ru-RU" dirty="0" err="1">
                <a:solidFill>
                  <a:schemeClr val="bg1"/>
                </a:solidFill>
              </a:rPr>
              <a:t>оркестрации</a:t>
            </a:r>
            <a:r>
              <a:rPr lang="ru-RU" dirty="0">
                <a:solidFill>
                  <a:schemeClr val="bg1"/>
                </a:solidFill>
              </a:rPr>
              <a:t>):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Развернут на </a:t>
            </a:r>
            <a:r>
              <a:rPr lang="ru-RU" dirty="0" err="1">
                <a:solidFill>
                  <a:schemeClr val="bg1"/>
                </a:solidFill>
              </a:rPr>
              <a:t>FastAPI</a:t>
            </a:r>
            <a:r>
              <a:rPr lang="ru-RU" dirty="0">
                <a:solidFill>
                  <a:schemeClr val="bg1"/>
                </a:solidFill>
              </a:rPr>
              <a:t>. Отвечает за прием запросов, валидацию входных данных через </a:t>
            </a:r>
            <a:r>
              <a:rPr lang="ru-RU" dirty="0" err="1">
                <a:solidFill>
                  <a:schemeClr val="bg1"/>
                </a:solidFill>
              </a:rPr>
              <a:t>Pydantic</a:t>
            </a:r>
            <a:r>
              <a:rPr lang="ru-RU" dirty="0">
                <a:solidFill>
                  <a:schemeClr val="bg1"/>
                </a:solidFill>
              </a:rPr>
              <a:t> (защита от мусорных запросов) и отдачу отформатированного JSON</a:t>
            </a:r>
          </a:p>
          <a:p>
            <a:endParaRPr lang="ru-RU" sz="800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Оснащен Anti-</a:t>
            </a:r>
            <a:r>
              <a:rPr lang="ru-RU" dirty="0" err="1">
                <a:solidFill>
                  <a:schemeClr val="bg1"/>
                </a:solidFill>
              </a:rPr>
              <a:t>Crash</a:t>
            </a:r>
            <a:r>
              <a:rPr lang="ru-RU" dirty="0">
                <a:solidFill>
                  <a:schemeClr val="bg1"/>
                </a:solidFill>
              </a:rPr>
              <a:t> фильтрами: отбивает архивы &gt; 100 МБ, чтобы защитить сервер от </a:t>
            </a:r>
            <a:r>
              <a:rPr lang="ru-RU" dirty="0" err="1">
                <a:solidFill>
                  <a:schemeClr val="bg1"/>
                </a:solidFill>
              </a:rPr>
              <a:t>DDoS</a:t>
            </a:r>
            <a:r>
              <a:rPr lang="ru-RU" dirty="0">
                <a:solidFill>
                  <a:schemeClr val="bg1"/>
                </a:solidFill>
              </a:rPr>
              <a:t> и исчерпания RAM</a:t>
            </a:r>
          </a:p>
        </p:txBody>
      </p:sp>
    </p:spTree>
    <p:extLst>
      <p:ext uri="{BB962C8B-B14F-4D97-AF65-F5344CB8AC3E}">
        <p14:creationId xmlns:p14="http://schemas.microsoft.com/office/powerpoint/2010/main" val="3616234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9F52-35FE-922A-126C-953938B36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1EE5BF-F7B7-20A8-3B1B-56FDD37DE6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C54730-841D-8651-31AA-417C5D41DCAF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Структура </a:t>
            </a:r>
            <a:r>
              <a:rPr lang="en-US" sz="3600" b="1" dirty="0">
                <a:solidFill>
                  <a:schemeClr val="bg1"/>
                </a:solidFill>
              </a:rPr>
              <a:t>API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D2A99-FBF0-4112-EDBA-C0109093478C}"/>
              </a:ext>
            </a:extLst>
          </p:cNvPr>
          <p:cNvSpPr txBox="1"/>
          <p:nvPr/>
        </p:nvSpPr>
        <p:spPr>
          <a:xfrm>
            <a:off x="6781800" y="117693"/>
            <a:ext cx="489712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├── 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__init__.py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rules_routes.py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└── scan_routes.py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</a:t>
            </a:r>
          </a:p>
          <a:p>
            <a:r>
              <a:rPr lang="en-US" dirty="0">
                <a:solidFill>
                  <a:schemeClr val="bg1"/>
                </a:solidFill>
              </a:rPr>
              <a:t>│   ├── core/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__init__.py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entropy.py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scanner_engine.py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└── severity.py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</a:t>
            </a:r>
          </a:p>
          <a:p>
            <a:r>
              <a:rPr lang="en-US" dirty="0">
                <a:solidFill>
                  <a:schemeClr val="bg1"/>
                </a:solidFill>
              </a:rPr>
              <a:t>│   ├── models/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__init__.py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└── schemas.py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</a:t>
            </a:r>
          </a:p>
          <a:p>
            <a:r>
              <a:rPr lang="en-US" dirty="0">
                <a:solidFill>
                  <a:schemeClr val="bg1"/>
                </a:solidFill>
              </a:rPr>
              <a:t>│   ├── rules/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</a:t>
            </a:r>
            <a:r>
              <a:rPr lang="en-US" dirty="0" err="1">
                <a:solidFill>
                  <a:schemeClr val="bg1"/>
                </a:solidFill>
              </a:rPr>
              <a:t>custom_rules.yaml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│   │   └── </a:t>
            </a:r>
            <a:r>
              <a:rPr lang="en-US" dirty="0" err="1">
                <a:solidFill>
                  <a:schemeClr val="bg1"/>
                </a:solidFill>
              </a:rPr>
              <a:t>default_rules.yaml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│   │</a:t>
            </a:r>
          </a:p>
          <a:p>
            <a:r>
              <a:rPr lang="en-US" dirty="0">
                <a:solidFill>
                  <a:schemeClr val="bg1"/>
                </a:solidFill>
              </a:rPr>
              <a:t>│   ├── services/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__init__.py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file_handler.py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├── report_generator.py</a:t>
            </a:r>
          </a:p>
          <a:p>
            <a:r>
              <a:rPr lang="en-US" dirty="0">
                <a:solidFill>
                  <a:schemeClr val="bg1"/>
                </a:solidFill>
              </a:rPr>
              <a:t>│   │   └── rules_manager.py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5097A3-9088-DC32-A403-632F29667EE3}"/>
              </a:ext>
            </a:extLst>
          </p:cNvPr>
          <p:cNvSpPr txBox="1"/>
          <p:nvPr/>
        </p:nvSpPr>
        <p:spPr>
          <a:xfrm>
            <a:off x="304800" y="1483484"/>
            <a:ext cx="6172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</a:rPr>
              <a:t>REST API</a:t>
            </a:r>
            <a:r>
              <a:rPr lang="ru-RU" dirty="0">
                <a:solidFill>
                  <a:srgbClr val="7030A0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построен на </a:t>
            </a:r>
            <a:r>
              <a:rPr lang="ru-RU" b="1" dirty="0" err="1">
                <a:solidFill>
                  <a:srgbClr val="FFA603"/>
                </a:solidFill>
              </a:rPr>
              <a:t>FastAPI</a:t>
            </a:r>
            <a:r>
              <a:rPr lang="ru-RU" dirty="0">
                <a:solidFill>
                  <a:schemeClr val="bg1"/>
                </a:solidFill>
              </a:rPr>
              <a:t> и реализует </a:t>
            </a:r>
            <a:r>
              <a:rPr lang="ru-RU" b="1" dirty="0">
                <a:solidFill>
                  <a:schemeClr val="bg1"/>
                </a:solidFill>
              </a:rPr>
              <a:t>микросервисную архитектуру</a:t>
            </a:r>
            <a:r>
              <a:rPr lang="ru-RU" dirty="0">
                <a:solidFill>
                  <a:schemeClr val="bg1"/>
                </a:solidFill>
              </a:rPr>
              <a:t> с четким разделением ответственности. </a:t>
            </a:r>
            <a:r>
              <a:rPr lang="ru-RU" dirty="0">
                <a:solidFill>
                  <a:srgbClr val="683995"/>
                </a:solidFill>
              </a:rPr>
              <a:t>API</a:t>
            </a:r>
            <a:r>
              <a:rPr lang="ru-RU" dirty="0">
                <a:solidFill>
                  <a:schemeClr val="bg1"/>
                </a:solidFill>
              </a:rPr>
              <a:t> выступает </a:t>
            </a:r>
            <a:r>
              <a:rPr lang="ru-RU" b="1" dirty="0">
                <a:solidFill>
                  <a:schemeClr val="bg1"/>
                </a:solidFill>
              </a:rPr>
              <a:t>единым входным шлюзом</a:t>
            </a:r>
            <a:r>
              <a:rPr lang="ru-RU" dirty="0">
                <a:solidFill>
                  <a:schemeClr val="bg1"/>
                </a:solidFill>
              </a:rPr>
              <a:t>, который принимает </a:t>
            </a:r>
            <a:r>
              <a:rPr lang="ru-RU" dirty="0">
                <a:solidFill>
                  <a:srgbClr val="FFA603"/>
                </a:solidFill>
              </a:rPr>
              <a:t>ZIP-архивы </a:t>
            </a:r>
            <a:r>
              <a:rPr lang="ru-RU" dirty="0">
                <a:solidFill>
                  <a:schemeClr val="bg1"/>
                </a:solidFill>
              </a:rPr>
              <a:t>с кодом, направляет их в </a:t>
            </a:r>
            <a:r>
              <a:rPr lang="ru-RU" b="1" dirty="0">
                <a:solidFill>
                  <a:schemeClr val="bg1"/>
                </a:solidFill>
              </a:rPr>
              <a:t>ядро сканирования</a:t>
            </a:r>
            <a:r>
              <a:rPr lang="ru-RU" dirty="0">
                <a:solidFill>
                  <a:schemeClr val="bg1"/>
                </a:solidFill>
              </a:rPr>
              <a:t> и возвращает структурированные </a:t>
            </a:r>
            <a:r>
              <a:rPr lang="ru-RU" dirty="0">
                <a:solidFill>
                  <a:srgbClr val="FFA603"/>
                </a:solidFill>
              </a:rPr>
              <a:t>JSON</a:t>
            </a:r>
            <a:r>
              <a:rPr lang="ru-RU" dirty="0">
                <a:solidFill>
                  <a:schemeClr val="bg1"/>
                </a:solidFill>
              </a:rPr>
              <a:t>-отчеты.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D2955-560C-AC1B-8F26-14B2FD74365B}"/>
              </a:ext>
            </a:extLst>
          </p:cNvPr>
          <p:cNvSpPr txBox="1"/>
          <p:nvPr/>
        </p:nvSpPr>
        <p:spPr>
          <a:xfrm>
            <a:off x="304800" y="384234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chemeClr val="bg1"/>
                </a:solidFill>
              </a:rPr>
              <a:t>API разделен на два модуля: 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scan_routes.py</a:t>
            </a:r>
            <a:r>
              <a:rPr lang="ru-RU" dirty="0">
                <a:solidFill>
                  <a:schemeClr val="bg1"/>
                </a:solidFill>
              </a:rPr>
              <a:t> для операций сканирования (загрузка ZIP, получение отчетов, экспорт) и 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rules_routes.py</a:t>
            </a:r>
            <a:r>
              <a:rPr lang="ru-RU" dirty="0">
                <a:solidFill>
                  <a:schemeClr val="bg1"/>
                </a:solidFill>
              </a:rPr>
              <a:t> для управления правилами поиска (CRUD операции). Такое разделение обеспечивает </a:t>
            </a:r>
            <a:r>
              <a:rPr lang="ru-RU" b="1" dirty="0">
                <a:solidFill>
                  <a:schemeClr val="bg1"/>
                </a:solidFill>
              </a:rPr>
              <a:t>масштабируемость</a:t>
            </a:r>
            <a:r>
              <a:rPr lang="ru-RU" dirty="0">
                <a:solidFill>
                  <a:schemeClr val="bg1"/>
                </a:solidFill>
              </a:rPr>
              <a:t> и </a:t>
            </a:r>
            <a:r>
              <a:rPr lang="ru-RU" b="1" dirty="0" err="1">
                <a:solidFill>
                  <a:schemeClr val="bg1"/>
                </a:solidFill>
              </a:rPr>
              <a:t>поддерживаемость</a:t>
            </a:r>
            <a:r>
              <a:rPr lang="ru-RU" dirty="0">
                <a:solidFill>
                  <a:schemeClr val="bg1"/>
                </a:solidFill>
              </a:rPr>
              <a:t> кода.</a:t>
            </a:r>
          </a:p>
          <a:p>
            <a:pPr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37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57B78-8486-9110-7022-7C7EACEA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BF3E02-467B-49E7-5440-DD3E2280C9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98B23D-8B4F-B4CA-4D7E-33DC280E3B41}"/>
              </a:ext>
            </a:extLst>
          </p:cNvPr>
          <p:cNvSpPr txBox="1"/>
          <p:nvPr/>
        </p:nvSpPr>
        <p:spPr>
          <a:xfrm>
            <a:off x="342899" y="1805852"/>
            <a:ext cx="69607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Где реализовано: backend/core/scanner_engine.py и entropy.py.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Как работает: Сначала 26+ регулярных выражений (компилируются заранее для скорости) ищут известные паттерны. Затем алгоритм вычисляет Энтропию Шеннона для длинных строк (</a:t>
            </a:r>
            <a:r>
              <a:rPr lang="ru-RU" dirty="0" err="1">
                <a:solidFill>
                  <a:schemeClr val="bg1"/>
                </a:solidFill>
              </a:rPr>
              <a:t>Hex</a:t>
            </a:r>
            <a:r>
              <a:rPr lang="ru-RU" dirty="0">
                <a:solidFill>
                  <a:schemeClr val="bg1"/>
                </a:solidFill>
              </a:rPr>
              <a:t>/Base64), чтобы найти "хаос".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A5AC4-053C-02DB-C546-126881AF4958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Core</a:t>
            </a:r>
            <a:r>
              <a:rPr lang="ru-RU" sz="3600" b="1" dirty="0">
                <a:solidFill>
                  <a:schemeClr val="bg1"/>
                </a:solidFill>
              </a:rPr>
              <a:t>. Основная логика поиска уязвимостей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6534C-4723-F0FE-2796-44A237309AB6}"/>
              </a:ext>
            </a:extLst>
          </p:cNvPr>
          <p:cNvSpPr txBox="1"/>
          <p:nvPr/>
        </p:nvSpPr>
        <p:spPr>
          <a:xfrm>
            <a:off x="342900" y="788403"/>
            <a:ext cx="11361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Гибридный движок сканирования </a:t>
            </a:r>
          </a:p>
        </p:txBody>
      </p:sp>
    </p:spTree>
    <p:extLst>
      <p:ext uri="{BB962C8B-B14F-4D97-AF65-F5344CB8AC3E}">
        <p14:creationId xmlns:p14="http://schemas.microsoft.com/office/powerpoint/2010/main" val="300808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6F2E-FEA4-7D1A-CFE8-67736956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6DB2CF-5740-9B29-5B2C-B95311AB65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D3A556-6687-8815-5A03-04BF3142401E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Правила /</a:t>
            </a:r>
            <a:r>
              <a:rPr lang="en-US" sz="3600" b="1" dirty="0">
                <a:solidFill>
                  <a:schemeClr val="bg1"/>
                </a:solidFill>
              </a:rPr>
              <a:t>rules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FC148E-0E86-631A-1C6A-EE3D4732C060}"/>
              </a:ext>
            </a:extLst>
          </p:cNvPr>
          <p:cNvSpPr txBox="1"/>
          <p:nvPr/>
        </p:nvSpPr>
        <p:spPr>
          <a:xfrm>
            <a:off x="350520" y="1247894"/>
            <a:ext cx="51968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Правила — это сердце поискового движка. Они определяют, какие именно секреты будет искать сканер и как их классифицировать.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Каждое правило — это комбинация: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   Регулярного выражения (что искать)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   Уровня критичности (насколько опасно)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   Типа секрета /название (AWS ключ, токен, пароль...)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182D9-2286-1CAC-D127-CF9028857F2A}"/>
              </a:ext>
            </a:extLst>
          </p:cNvPr>
          <p:cNvSpPr txBox="1"/>
          <p:nvPr/>
        </p:nvSpPr>
        <p:spPr>
          <a:xfrm>
            <a:off x="6023610" y="188809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Системные правила (</a:t>
            </a:r>
            <a:r>
              <a:rPr lang="ru-RU" b="1" dirty="0" err="1">
                <a:solidFill>
                  <a:schemeClr val="bg1"/>
                </a:solidFill>
              </a:rPr>
              <a:t>is_custom</a:t>
            </a:r>
            <a:r>
              <a:rPr lang="ru-RU" b="1" dirty="0">
                <a:solidFill>
                  <a:schemeClr val="bg1"/>
                </a:solidFill>
              </a:rPr>
              <a:t>: </a:t>
            </a:r>
            <a:r>
              <a:rPr lang="ru-RU" b="1" dirty="0" err="1">
                <a:solidFill>
                  <a:schemeClr val="bg1"/>
                </a:solidFill>
              </a:rPr>
              <a:t>false</a:t>
            </a:r>
            <a:r>
              <a:rPr lang="ru-RU" b="1" dirty="0">
                <a:solidFill>
                  <a:schemeClr val="bg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Поставляются с установкой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Нельзя удалить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28+ предустановленных правил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Покрывают основные типы секретов</a:t>
            </a:r>
          </a:p>
          <a:p>
            <a:pPr>
              <a:buNone/>
            </a:pPr>
            <a:endParaRPr lang="ru-RU" b="1" dirty="0">
              <a:solidFill>
                <a:schemeClr val="bg1"/>
              </a:solidFill>
            </a:endParaRPr>
          </a:p>
          <a:p>
            <a:pPr>
              <a:buNone/>
            </a:pPr>
            <a:endParaRPr lang="ru-RU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Пользовательские правила (</a:t>
            </a:r>
            <a:r>
              <a:rPr lang="ru-RU" b="1" dirty="0" err="1">
                <a:solidFill>
                  <a:schemeClr val="bg1"/>
                </a:solidFill>
              </a:rPr>
              <a:t>is_custom</a:t>
            </a:r>
            <a:r>
              <a:rPr lang="ru-RU" b="1" dirty="0">
                <a:solidFill>
                  <a:schemeClr val="bg1"/>
                </a:solidFill>
              </a:rPr>
              <a:t>: </a:t>
            </a:r>
            <a:r>
              <a:rPr lang="ru-RU" b="1" dirty="0" err="1">
                <a:solidFill>
                  <a:schemeClr val="bg1"/>
                </a:solidFill>
              </a:rPr>
              <a:t>true</a:t>
            </a:r>
            <a:r>
              <a:rPr lang="ru-RU" b="1" dirty="0">
                <a:solidFill>
                  <a:schemeClr val="bg1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Создаются через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Можно удалять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Для специфичных нужд компании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Пример: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CUSTOM-API-KEY-[A-Z0-9-]{20,}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77B45-13FC-0EBF-3DA6-321A18E1F1D8}"/>
              </a:ext>
            </a:extLst>
          </p:cNvPr>
          <p:cNvSpPr txBox="1"/>
          <p:nvPr/>
        </p:nvSpPr>
        <p:spPr>
          <a:xfrm>
            <a:off x="6040755" y="3411587"/>
            <a:ext cx="637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custom_rules.yaml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DD0FA6-5C14-9B41-27A4-A6C26EF5DE70}"/>
              </a:ext>
            </a:extLst>
          </p:cNvPr>
          <p:cNvSpPr txBox="1"/>
          <p:nvPr/>
        </p:nvSpPr>
        <p:spPr>
          <a:xfrm>
            <a:off x="6021705" y="1366676"/>
            <a:ext cx="6408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default_rules.yaml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491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89158-C1CC-AA74-655F-7403243D0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8D2440-76ED-066D-46DA-0E9303F46B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24358-E007-30F5-05F5-289AF97D9400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Правила /</a:t>
            </a:r>
            <a:r>
              <a:rPr lang="en-US" sz="3600" b="1" dirty="0">
                <a:solidFill>
                  <a:schemeClr val="bg1"/>
                </a:solidFill>
              </a:rPr>
              <a:t>rules </a:t>
            </a:r>
            <a:endParaRPr lang="ru-RU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2E16677-0225-DEEB-E46A-B4CA000DC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32835"/>
              </p:ext>
            </p:extLst>
          </p:nvPr>
        </p:nvGraphicFramePr>
        <p:xfrm>
          <a:off x="509286" y="1783080"/>
          <a:ext cx="10772122" cy="384048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3582990">
                  <a:extLst>
                    <a:ext uri="{9D8B030D-6E8A-4147-A177-3AD203B41FA5}">
                      <a16:colId xmlns:a16="http://schemas.microsoft.com/office/drawing/2014/main" val="205323624"/>
                    </a:ext>
                  </a:extLst>
                </a:gridCol>
                <a:gridCol w="2458995">
                  <a:extLst>
                    <a:ext uri="{9D8B030D-6E8A-4147-A177-3AD203B41FA5}">
                      <a16:colId xmlns:a16="http://schemas.microsoft.com/office/drawing/2014/main" val="1737454758"/>
                    </a:ext>
                  </a:extLst>
                </a:gridCol>
                <a:gridCol w="4730137">
                  <a:extLst>
                    <a:ext uri="{9D8B030D-6E8A-4147-A177-3AD203B41FA5}">
                      <a16:colId xmlns:a16="http://schemas.microsoft.com/office/drawing/2014/main" val="2902001981"/>
                    </a:ext>
                  </a:extLst>
                </a:gridCol>
              </a:tblGrid>
              <a:tr h="20082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Категория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Количество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39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Примеры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75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231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Cloud (AWS)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Access Key, Secret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619412"/>
                  </a:ext>
                </a:extLst>
              </a:tr>
              <a:tr h="1360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GitHub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Token, OAuth, Refresh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705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API Keys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Google, Stripe, Twilio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686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Databases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PostgreSQL, MySQL, MongoDB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09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Private Keys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RSA, SSH, PGP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541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Generic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Passwords, Tokens, High Entropy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720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Docker/Cloud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Registry, Service 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3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ВСЕГО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60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28+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И покрытие растет!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8085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C2C389-17CC-AFD9-C167-3B2889140472}"/>
              </a:ext>
            </a:extLst>
          </p:cNvPr>
          <p:cNvSpPr txBox="1"/>
          <p:nvPr/>
        </p:nvSpPr>
        <p:spPr>
          <a:xfrm>
            <a:off x="342900" y="788403"/>
            <a:ext cx="11361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Системные правила, статистика</a:t>
            </a:r>
          </a:p>
        </p:txBody>
      </p:sp>
    </p:spTree>
    <p:extLst>
      <p:ext uri="{BB962C8B-B14F-4D97-AF65-F5344CB8AC3E}">
        <p14:creationId xmlns:p14="http://schemas.microsoft.com/office/powerpoint/2010/main" val="227774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F8C2-028A-72A8-24D3-990B9462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473FE1-C5DB-190B-FEC1-4A8703B842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4B6136-6126-43E5-6B31-8C6F92BD9835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Правила /</a:t>
            </a:r>
            <a:r>
              <a:rPr lang="en-US" sz="3600" b="1" dirty="0">
                <a:solidFill>
                  <a:schemeClr val="bg1"/>
                </a:solidFill>
              </a:rPr>
              <a:t>rules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473CB-DB48-14B8-5E23-BEAB27A50A50}"/>
              </a:ext>
            </a:extLst>
          </p:cNvPr>
          <p:cNvSpPr txBox="1"/>
          <p:nvPr/>
        </p:nvSpPr>
        <p:spPr>
          <a:xfrm>
            <a:off x="342900" y="788403"/>
            <a:ext cx="11361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Уровня критичности 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81412945-E404-82E1-3479-F1BF46AE4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428395"/>
              </p:ext>
            </p:extLst>
          </p:nvPr>
        </p:nvGraphicFramePr>
        <p:xfrm>
          <a:off x="765810" y="1805852"/>
          <a:ext cx="10515600" cy="34747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6970545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56410185"/>
                    </a:ext>
                  </a:extLst>
                </a:gridCol>
                <a:gridCol w="2262127">
                  <a:extLst>
                    <a:ext uri="{9D8B030D-6E8A-4147-A177-3AD203B41FA5}">
                      <a16:colId xmlns:a16="http://schemas.microsoft.com/office/drawing/2014/main" val="3800471713"/>
                    </a:ext>
                  </a:extLst>
                </a:gridCol>
                <a:gridCol w="1944113">
                  <a:extLst>
                    <a:ext uri="{9D8B030D-6E8A-4147-A177-3AD203B41FA5}">
                      <a16:colId xmlns:a16="http://schemas.microsoft.com/office/drawing/2014/main" val="88687088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06862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Уровень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Цвет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Изменение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Время реакции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Действие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910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🔴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Critical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3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Красный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Немедленное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&lt; 1 часа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Блокировка деплоя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86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🟠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High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75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Оранжевый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Срочное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&lt; 24 часов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Требует проверки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7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🟡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Medium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60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Желтый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Плановое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&lt; 1 недели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Информировать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657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🟢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Low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Зеленый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Информационное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По возможности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Обратить внимание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38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9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CEED-1B3D-CED7-561B-2F0D231F9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8D3BF2-5C5D-AFCC-AA5C-E524988995E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8E7C52-6C18-E119-C677-3A947D79635D}"/>
              </a:ext>
            </a:extLst>
          </p:cNvPr>
          <p:cNvSpPr txBox="1"/>
          <p:nvPr/>
        </p:nvSpPr>
        <p:spPr>
          <a:xfrm>
            <a:off x="472440" y="1586746"/>
            <a:ext cx="5623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Модуль entropy.py реализует статистический анализ строк для определения, являются ли они потенциальными секретами.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E3DD1-1E2C-077C-9D76-0953184E9F71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Core</a:t>
            </a:r>
            <a:r>
              <a:rPr lang="ru-RU" sz="3600" b="1" dirty="0">
                <a:solidFill>
                  <a:schemeClr val="bg1"/>
                </a:solidFill>
              </a:rPr>
              <a:t>. Энтропия - </a:t>
            </a:r>
            <a:r>
              <a:rPr lang="ru-RU" sz="3600" dirty="0">
                <a:solidFill>
                  <a:schemeClr val="bg1"/>
                </a:solidFill>
              </a:rPr>
              <a:t>entropy.py 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A8821-BCDA-DE86-1EFE-CC60BB3B0D3A}"/>
              </a:ext>
            </a:extLst>
          </p:cNvPr>
          <p:cNvSpPr txBox="1"/>
          <p:nvPr/>
        </p:nvSpPr>
        <p:spPr>
          <a:xfrm>
            <a:off x="472440" y="2656344"/>
            <a:ext cx="5242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shannon_entropy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ru-RU" dirty="0">
                <a:solidFill>
                  <a:schemeClr val="bg1"/>
                </a:solidFill>
              </a:rPr>
              <a:t>) - Расчет энтропии Шеннона: Преобразует строку в байты, считает частоту каждого уникального байта, применяет формулу Шеннона</a:t>
            </a:r>
          </a:p>
          <a:p>
            <a:br>
              <a:rPr lang="ru-RU" dirty="0">
                <a:solidFill>
                  <a:schemeClr val="bg1"/>
                </a:solidFill>
              </a:rPr>
            </a:br>
            <a:r>
              <a:rPr lang="ru-RU" dirty="0" err="1">
                <a:solidFill>
                  <a:schemeClr val="bg1"/>
                </a:solidFill>
              </a:rPr>
              <a:t>detect_encoding_type</a:t>
            </a:r>
            <a:r>
              <a:rPr lang="ru-RU" dirty="0">
                <a:solidFill>
                  <a:schemeClr val="bg1"/>
                </a:solidFill>
              </a:rPr>
              <a:t>() — Определение типа кодировки</a:t>
            </a:r>
          </a:p>
          <a:p>
            <a:br>
              <a:rPr lang="ru-RU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</a:rPr>
              <a:t>analyze_secret_entropy</a:t>
            </a:r>
            <a:r>
              <a:rPr lang="en-US" dirty="0">
                <a:solidFill>
                  <a:schemeClr val="bg1"/>
                </a:solidFill>
              </a:rPr>
              <a:t>()</a:t>
            </a:r>
            <a:r>
              <a:rPr lang="ru-RU" dirty="0">
                <a:solidFill>
                  <a:schemeClr val="bg1"/>
                </a:solidFill>
              </a:rPr>
              <a:t> - Полный анализ секрета,  в зависимости от типа кодировки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584C1C0-7790-791F-6E2A-FF98461E3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019761"/>
              </p:ext>
            </p:extLst>
          </p:nvPr>
        </p:nvGraphicFramePr>
        <p:xfrm>
          <a:off x="6568440" y="1586746"/>
          <a:ext cx="5394960" cy="393192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4236585102"/>
                    </a:ext>
                  </a:extLst>
                </a:gridCol>
                <a:gridCol w="1007574">
                  <a:extLst>
                    <a:ext uri="{9D8B030D-6E8A-4147-A177-3AD203B41FA5}">
                      <a16:colId xmlns:a16="http://schemas.microsoft.com/office/drawing/2014/main" val="2273158337"/>
                    </a:ext>
                  </a:extLst>
                </a:gridCol>
                <a:gridCol w="2589066">
                  <a:extLst>
                    <a:ext uri="{9D8B030D-6E8A-4147-A177-3AD203B41FA5}">
                      <a16:colId xmlns:a16="http://schemas.microsoft.com/office/drawing/2014/main" val="3082713356"/>
                    </a:ext>
                  </a:extLst>
                </a:gridCol>
              </a:tblGrid>
              <a:tr h="849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hex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&gt; 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 err="1">
                          <a:solidFill>
                            <a:schemeClr val="bg1"/>
                          </a:solidFill>
                        </a:rPr>
                        <a:t>hex</a:t>
                      </a: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-строки обычно имеют равномерное распределение символов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884402"/>
                  </a:ext>
                </a:extLst>
              </a:tr>
              <a:tr h="59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base64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&gt; 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base64 имеет 64 символа, энтропия выше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17907"/>
                  </a:ext>
                </a:extLst>
              </a:tr>
              <a:tr h="59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mixed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&gt; 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смешанный текст с высокой энтропией подозрителен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95875"/>
                  </a:ext>
                </a:extLst>
              </a:tr>
              <a:tr h="849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</a:rPr>
                        <a:t>length &gt; 40</a:t>
                      </a: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&gt; 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длинные строки с высокой энтропией — почти всегда ключи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332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532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A3079-2D26-D88A-B91D-E4336F658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C8D500-5E2E-7B20-B4D1-C5A4088F8C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2387A65-65F8-D050-3287-E96AEAEEC7EF}"/>
              </a:ext>
            </a:extLst>
          </p:cNvPr>
          <p:cNvSpPr/>
          <p:nvPr/>
        </p:nvSpPr>
        <p:spPr>
          <a:xfrm>
            <a:off x="2739342" y="3572210"/>
            <a:ext cx="6713316" cy="2147534"/>
          </a:xfrm>
          <a:prstGeom prst="rect">
            <a:avLst/>
          </a:prstGeom>
          <a:solidFill>
            <a:srgbClr val="6839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298FE1B-D75C-3FA8-DD2E-0657FFCF48E5}"/>
              </a:ext>
            </a:extLst>
          </p:cNvPr>
          <p:cNvSpPr/>
          <p:nvPr/>
        </p:nvSpPr>
        <p:spPr>
          <a:xfrm>
            <a:off x="2697432" y="1399976"/>
            <a:ext cx="6713316" cy="1775157"/>
          </a:xfrm>
          <a:prstGeom prst="rect">
            <a:avLst/>
          </a:prstGeom>
          <a:solidFill>
            <a:srgbClr val="388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950E04-60AE-392A-B46D-31951A20EC8B}"/>
              </a:ext>
            </a:extLst>
          </p:cNvPr>
          <p:cNvSpPr txBox="1"/>
          <p:nvPr/>
        </p:nvSpPr>
        <p:spPr>
          <a:xfrm>
            <a:off x="3048000" y="1808462"/>
            <a:ext cx="6096000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mask_secret</a:t>
            </a:r>
            <a:r>
              <a:rPr lang="en-US" dirty="0">
                <a:solidFill>
                  <a:schemeClr val="bg1"/>
                </a:solidFill>
              </a:rPr>
              <a:t>() — </a:t>
            </a:r>
            <a:r>
              <a:rPr lang="ru-RU" dirty="0">
                <a:solidFill>
                  <a:schemeClr val="bg1"/>
                </a:solidFill>
              </a:rPr>
              <a:t>Безопасность данных, скрывает настоящие секреты в отчетах, показывая только часть символов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B2AE1-192F-B8E6-6F89-57032FD18552}"/>
              </a:ext>
            </a:extLst>
          </p:cNvPr>
          <p:cNvSpPr txBox="1"/>
          <p:nvPr/>
        </p:nvSpPr>
        <p:spPr>
          <a:xfrm>
            <a:off x="37338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Core</a:t>
            </a:r>
            <a:r>
              <a:rPr lang="ru-RU" sz="3600" b="1" dirty="0">
                <a:solidFill>
                  <a:schemeClr val="bg1"/>
                </a:solidFill>
              </a:rPr>
              <a:t>. Вспомогательный модуль - </a:t>
            </a:r>
            <a:r>
              <a:rPr lang="en-US" sz="3600" b="1" dirty="0">
                <a:solidFill>
                  <a:schemeClr val="bg1"/>
                </a:solidFill>
              </a:rPr>
              <a:t>severity.py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35E72-BFDF-DDAC-B8CE-6C3284917F67}"/>
              </a:ext>
            </a:extLst>
          </p:cNvPr>
          <p:cNvSpPr txBox="1"/>
          <p:nvPr/>
        </p:nvSpPr>
        <p:spPr>
          <a:xfrm>
            <a:off x="3022922" y="4093237"/>
            <a:ext cx="6146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determine_severity</a:t>
            </a:r>
            <a:r>
              <a:rPr lang="en-US" dirty="0">
                <a:solidFill>
                  <a:schemeClr val="bg1"/>
                </a:solidFill>
              </a:rPr>
              <a:t>()</a:t>
            </a:r>
            <a:r>
              <a:rPr lang="ru-RU" dirty="0">
                <a:solidFill>
                  <a:schemeClr val="bg1"/>
                </a:solidFill>
              </a:rPr>
              <a:t> – Нормализация уровней риска, </a:t>
            </a:r>
            <a:r>
              <a:rPr lang="ru-RU" dirty="0" err="1">
                <a:solidFill>
                  <a:schemeClr val="bg1"/>
                </a:solidFill>
              </a:rPr>
              <a:t>реобразует</a:t>
            </a:r>
            <a:r>
              <a:rPr lang="ru-RU" dirty="0">
                <a:solidFill>
                  <a:schemeClr val="bg1"/>
                </a:solidFill>
              </a:rPr>
              <a:t> внутренние уровни риска в формат, понятный для API и фронтенда</a:t>
            </a:r>
          </a:p>
        </p:txBody>
      </p:sp>
    </p:spTree>
    <p:extLst>
      <p:ext uri="{BB962C8B-B14F-4D97-AF65-F5344CB8AC3E}">
        <p14:creationId xmlns:p14="http://schemas.microsoft.com/office/powerpoint/2010/main" val="642317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85474-A2D2-4D30-01D7-52DC97D7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E50073-C635-97A7-966A-3D3270170D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5CEEDE-9026-FE94-A312-CFED80E2C9CA}"/>
              </a:ext>
            </a:extLst>
          </p:cNvPr>
          <p:cNvSpPr txBox="1"/>
          <p:nvPr/>
        </p:nvSpPr>
        <p:spPr>
          <a:xfrm>
            <a:off x="342900" y="9269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Отвечает за поиск секретов в коде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6778B-5A08-6485-A552-F5362F38E78F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Core</a:t>
            </a:r>
            <a:r>
              <a:rPr lang="ru-RU" sz="3600" b="1" dirty="0">
                <a:solidFill>
                  <a:schemeClr val="bg1"/>
                </a:solidFill>
              </a:rPr>
              <a:t>. Главный файл движка – </a:t>
            </a:r>
            <a:r>
              <a:rPr lang="en-US" sz="3600" b="1" dirty="0">
                <a:solidFill>
                  <a:schemeClr val="bg1"/>
                </a:solidFill>
              </a:rPr>
              <a:t>scanner_engine.py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00790-F2F3-1B65-C675-D30D367B2613}"/>
              </a:ext>
            </a:extLst>
          </p:cNvPr>
          <p:cNvSpPr txBox="1"/>
          <p:nvPr/>
        </p:nvSpPr>
        <p:spPr>
          <a:xfrm>
            <a:off x="342900" y="1759283"/>
            <a:ext cx="47846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DD3241"/>
                </a:highlight>
              </a:rPr>
              <a:t>__</a:t>
            </a:r>
            <a:r>
              <a:rPr lang="en-US" dirty="0" err="1">
                <a:solidFill>
                  <a:schemeClr val="bg1"/>
                </a:solidFill>
                <a:highlight>
                  <a:srgbClr val="DD3241"/>
                </a:highlight>
              </a:rPr>
              <a:t>init</a:t>
            </a:r>
            <a:r>
              <a:rPr lang="en-US" dirty="0">
                <a:solidFill>
                  <a:schemeClr val="bg1"/>
                </a:solidFill>
                <a:highlight>
                  <a:srgbClr val="DD3241"/>
                </a:highlight>
              </a:rPr>
              <a:t>__</a:t>
            </a:r>
            <a:r>
              <a:rPr lang="ru-RU" dirty="0">
                <a:solidFill>
                  <a:schemeClr val="bg1"/>
                </a:solidFill>
                <a:highlight>
                  <a:srgbClr val="DD3241"/>
                </a:highlight>
              </a:rPr>
              <a:t>() </a:t>
            </a:r>
            <a:r>
              <a:rPr lang="ru-RU" dirty="0">
                <a:solidFill>
                  <a:schemeClr val="bg1"/>
                </a:solidFill>
              </a:rPr>
              <a:t>-  Инициализация: загружает правила, компилирует </a:t>
            </a:r>
            <a:r>
              <a:rPr lang="ru-RU" dirty="0" err="1">
                <a:solidFill>
                  <a:schemeClr val="bg1"/>
                </a:solidFill>
              </a:rPr>
              <a:t>regex</a:t>
            </a:r>
            <a:r>
              <a:rPr lang="ru-RU" dirty="0">
                <a:solidFill>
                  <a:schemeClr val="bg1"/>
                </a:solidFill>
              </a:rPr>
              <a:t> , то есть преобразование текстового паттерна в конечный автомат, который может очень быстро выполняться компьютером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  <a:highlight>
                  <a:srgbClr val="FFA603"/>
                </a:highlight>
              </a:rPr>
              <a:t>scan_line</a:t>
            </a:r>
            <a:r>
              <a:rPr lang="ru-RU" dirty="0">
                <a:solidFill>
                  <a:schemeClr val="bg1"/>
                </a:solidFill>
                <a:highlight>
                  <a:srgbClr val="FFA603"/>
                </a:highlight>
              </a:rPr>
              <a:t>() </a:t>
            </a:r>
            <a:r>
              <a:rPr lang="ru-RU" dirty="0">
                <a:solidFill>
                  <a:schemeClr val="bg1"/>
                </a:solidFill>
              </a:rPr>
              <a:t>- Сканирует ОДНУ строку текста, с помощью </a:t>
            </a:r>
            <a:r>
              <a:rPr lang="en-US" dirty="0" err="1">
                <a:solidFill>
                  <a:schemeClr val="bg1"/>
                </a:solidFill>
              </a:rPr>
              <a:t>rule_info</a:t>
            </a:r>
            <a:r>
              <a:rPr lang="ru-RU" dirty="0">
                <a:solidFill>
                  <a:schemeClr val="bg1"/>
                </a:solidFill>
              </a:rPr>
              <a:t>  получаем все совпадения, извлекаем найденные секреты, фильтруем по длине, анализируем энтропию, маскируем найденные секреты, создаём запись о находке, добавляем результат, обработка ошибок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5C1E7-AD39-FCA5-E870-B2607CD43EFD}"/>
              </a:ext>
            </a:extLst>
          </p:cNvPr>
          <p:cNvSpPr txBox="1"/>
          <p:nvPr/>
        </p:nvSpPr>
        <p:spPr>
          <a:xfrm>
            <a:off x="5434314" y="1482283"/>
            <a:ext cx="64509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ru-RU" dirty="0">
                <a:solidFill>
                  <a:schemeClr val="bg1"/>
                </a:solidFill>
              </a:rPr>
            </a:br>
            <a:r>
              <a:rPr lang="en-US" dirty="0" err="1">
                <a:solidFill>
                  <a:schemeClr val="bg1"/>
                </a:solidFill>
                <a:highlight>
                  <a:srgbClr val="3882FF"/>
                </a:highlight>
              </a:rPr>
              <a:t>scan_file</a:t>
            </a:r>
            <a:r>
              <a:rPr lang="ru-RU" dirty="0">
                <a:solidFill>
                  <a:schemeClr val="bg1"/>
                </a:solidFill>
                <a:highlight>
                  <a:srgbClr val="3882FF"/>
                </a:highlight>
              </a:rPr>
              <a:t>()</a:t>
            </a:r>
            <a:r>
              <a:rPr lang="ru-RU" dirty="0">
                <a:solidFill>
                  <a:schemeClr val="bg1"/>
                </a:solidFill>
              </a:rPr>
              <a:t> - Сканирует ВЕСЬ файл построчно, проверка файла, построчное чтение файла, сбор и возврат результатов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  <a:highlight>
                  <a:srgbClr val="683995"/>
                </a:highlight>
              </a:rPr>
              <a:t> </a:t>
            </a:r>
            <a:r>
              <a:rPr lang="en-US" dirty="0" err="1">
                <a:solidFill>
                  <a:schemeClr val="bg1"/>
                </a:solidFill>
                <a:highlight>
                  <a:srgbClr val="683995"/>
                </a:highlight>
              </a:rPr>
              <a:t>scan_directory</a:t>
            </a:r>
            <a:r>
              <a:rPr lang="ru-RU" dirty="0">
                <a:solidFill>
                  <a:schemeClr val="bg1"/>
                </a:solidFill>
                <a:highlight>
                  <a:srgbClr val="683995"/>
                </a:highlight>
              </a:rPr>
              <a:t>()</a:t>
            </a:r>
            <a:r>
              <a:rPr lang="ru-RU" dirty="0">
                <a:solidFill>
                  <a:schemeClr val="bg1"/>
                </a:solidFill>
              </a:rPr>
              <a:t> - Сканирует ВСЮ папку рекурсивно, проверка существования директории,  пропуск  выбранных папок, рекурсивный обход всех файлов,  </a:t>
            </a:r>
            <a:r>
              <a:rPr lang="ru-RU" dirty="0" err="1">
                <a:solidFill>
                  <a:schemeClr val="bg1"/>
                </a:solidFill>
              </a:rPr>
              <a:t>праверка</a:t>
            </a:r>
            <a:r>
              <a:rPr lang="ru-RU" dirty="0">
                <a:solidFill>
                  <a:schemeClr val="bg1"/>
                </a:solidFill>
              </a:rPr>
              <a:t> расширений файлов (исключение бинарных), сканирование файлов 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  <a:highlight>
                  <a:srgbClr val="FA751E"/>
                </a:highlight>
              </a:rPr>
              <a:t>get_statistics</a:t>
            </a:r>
            <a:r>
              <a:rPr lang="ru-RU" dirty="0">
                <a:solidFill>
                  <a:schemeClr val="bg1"/>
                </a:solidFill>
                <a:highlight>
                  <a:srgbClr val="FA751E"/>
                </a:highlight>
              </a:rPr>
              <a:t>() </a:t>
            </a:r>
            <a:r>
              <a:rPr lang="ru-RU" dirty="0">
                <a:solidFill>
                  <a:schemeClr val="bg1"/>
                </a:solidFill>
              </a:rPr>
              <a:t>- Собирает статистику по находкам, агрегирует сырые данные, считает распределения по срезам, выявляет проблемные файлы и типы, подготавливает данные для визуализации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1179570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6ED9-F929-C5B2-E3CF-19617048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E38701-ECD2-C265-CD8E-A77ADA682D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60E30CA-BDD7-DAED-D5EF-1335DB9177B1}"/>
              </a:ext>
            </a:extLst>
          </p:cNvPr>
          <p:cNvSpPr/>
          <p:nvPr/>
        </p:nvSpPr>
        <p:spPr>
          <a:xfrm>
            <a:off x="5105400" y="878951"/>
            <a:ext cx="6748040" cy="5108158"/>
          </a:xfrm>
          <a:prstGeom prst="rect">
            <a:avLst/>
          </a:prstGeom>
          <a:solidFill>
            <a:srgbClr val="FFA6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A672C-7F20-ED37-E979-652FAB47BE18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Direct GitHub Scan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6E671-C799-EF6C-3F62-AAF20553BDE2}"/>
              </a:ext>
            </a:extLst>
          </p:cNvPr>
          <p:cNvSpPr txBox="1"/>
          <p:nvPr/>
        </p:nvSpPr>
        <p:spPr>
          <a:xfrm>
            <a:off x="423923" y="2690336"/>
            <a:ext cx="4762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highlight>
                  <a:srgbClr val="FFA603"/>
                </a:highlight>
              </a:rPr>
              <a:t>Direct </a:t>
            </a:r>
            <a:r>
              <a:rPr lang="ru-RU" b="1" dirty="0" err="1">
                <a:solidFill>
                  <a:schemeClr val="bg1"/>
                </a:solidFill>
                <a:highlight>
                  <a:srgbClr val="FFA603"/>
                </a:highlight>
              </a:rPr>
              <a:t>GitHub</a:t>
            </a:r>
            <a:r>
              <a:rPr lang="ru-RU" b="1" dirty="0">
                <a:solidFill>
                  <a:schemeClr val="bg1"/>
                </a:solidFill>
                <a:highlight>
                  <a:srgbClr val="FFA603"/>
                </a:highlight>
              </a:rPr>
              <a:t> </a:t>
            </a:r>
            <a:r>
              <a:rPr lang="ru-RU" b="1" dirty="0" err="1">
                <a:solidFill>
                  <a:schemeClr val="bg1"/>
                </a:solidFill>
                <a:highlight>
                  <a:srgbClr val="FFA603"/>
                </a:highlight>
              </a:rPr>
              <a:t>Scan</a:t>
            </a:r>
            <a:r>
              <a:rPr lang="ru-RU" dirty="0">
                <a:solidFill>
                  <a:schemeClr val="bg1"/>
                </a:solidFill>
                <a:highlight>
                  <a:srgbClr val="FFA603"/>
                </a:highlight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— это функциональность, позволяющая сканировать код </a:t>
            </a:r>
            <a:r>
              <a:rPr lang="ru-RU" b="1" dirty="0">
                <a:solidFill>
                  <a:schemeClr val="bg1"/>
                </a:solidFill>
              </a:rPr>
              <a:t>напрямую из </a:t>
            </a:r>
            <a:r>
              <a:rPr lang="ru-RU" b="1" dirty="0" err="1">
                <a:solidFill>
                  <a:schemeClr val="bg1"/>
                </a:solidFill>
              </a:rPr>
              <a:t>GitHub</a:t>
            </a:r>
            <a:r>
              <a:rPr lang="ru-RU" b="1" dirty="0">
                <a:solidFill>
                  <a:schemeClr val="bg1"/>
                </a:solidFill>
              </a:rPr>
              <a:t>-репозиториев</a:t>
            </a:r>
            <a:r>
              <a:rPr lang="ru-RU" dirty="0">
                <a:solidFill>
                  <a:schemeClr val="bg1"/>
                </a:solidFill>
              </a:rPr>
              <a:t>, без необходимости скачивать ZIP вручную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0F095-2582-C253-1976-FFD82FA5AC27}"/>
              </a:ext>
            </a:extLst>
          </p:cNvPr>
          <p:cNvSpPr txBox="1"/>
          <p:nvPr/>
        </p:nvSpPr>
        <p:spPr>
          <a:xfrm>
            <a:off x="342900" y="788403"/>
            <a:ext cx="11361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Вспомогательная фича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90B19F-7F77-46CB-D528-9D18C1A1CD7D}"/>
              </a:ext>
            </a:extLst>
          </p:cNvPr>
          <p:cNvSpPr txBox="1"/>
          <p:nvPr/>
        </p:nvSpPr>
        <p:spPr>
          <a:xfrm>
            <a:off x="6019800" y="1443841"/>
            <a:ext cx="6172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Пользователь вводит: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https://github.com/user/repo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     ↓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1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) Извлечение информации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user/repo)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     ↓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2) 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Клонирование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 через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GitPython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         ↓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3) 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Локальная копия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во временной папке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         ↓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4) 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Сканирование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 через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Scanner Engine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     ↓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5) 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Очистка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 временных файлов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         ↓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6) 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</a:rPr>
              <a:t>Результат в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</a:rPr>
              <a:t>JSON</a:t>
            </a:r>
          </a:p>
        </p:txBody>
      </p:sp>
    </p:spTree>
    <p:extLst>
      <p:ext uri="{BB962C8B-B14F-4D97-AF65-F5344CB8AC3E}">
        <p14:creationId xmlns:p14="http://schemas.microsoft.com/office/powerpoint/2010/main" val="1746983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0ADFD-8FA4-37D3-D0CF-4CE3E106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13AC16-7258-E8F2-648B-06B4A0A52D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CC0D71A-4D00-EE4F-FEA9-958E2BEAB743}"/>
              </a:ext>
            </a:extLst>
          </p:cNvPr>
          <p:cNvSpPr/>
          <p:nvPr/>
        </p:nvSpPr>
        <p:spPr>
          <a:xfrm>
            <a:off x="2342667" y="4852408"/>
            <a:ext cx="5074052" cy="561652"/>
          </a:xfrm>
          <a:prstGeom prst="rect">
            <a:avLst/>
          </a:prstGeom>
          <a:solidFill>
            <a:srgbClr val="388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F378402-E962-6DC6-9B9E-D99546D892B2}"/>
              </a:ext>
            </a:extLst>
          </p:cNvPr>
          <p:cNvSpPr/>
          <p:nvPr/>
        </p:nvSpPr>
        <p:spPr>
          <a:xfrm>
            <a:off x="240652" y="1718007"/>
            <a:ext cx="5249600" cy="2295344"/>
          </a:xfrm>
          <a:prstGeom prst="rect">
            <a:avLst/>
          </a:prstGeom>
          <a:solidFill>
            <a:srgbClr val="DD32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1795A8D-A13C-30DD-1595-317A77603AB3}"/>
              </a:ext>
            </a:extLst>
          </p:cNvPr>
          <p:cNvSpPr/>
          <p:nvPr/>
        </p:nvSpPr>
        <p:spPr>
          <a:xfrm>
            <a:off x="5805192" y="1079040"/>
            <a:ext cx="6146156" cy="3490348"/>
          </a:xfrm>
          <a:prstGeom prst="rect">
            <a:avLst/>
          </a:prstGeom>
          <a:solidFill>
            <a:srgbClr val="FA751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67051-D695-706E-9BCD-84DCF223D6B3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While list </a:t>
            </a:r>
            <a:r>
              <a:rPr lang="ru-RU" sz="3600" b="1" dirty="0">
                <a:solidFill>
                  <a:schemeClr val="bg1"/>
                </a:solidFill>
              </a:rPr>
              <a:t> -  </a:t>
            </a:r>
            <a:r>
              <a:rPr lang="en-US" sz="3600" b="1" dirty="0">
                <a:solidFill>
                  <a:schemeClr val="bg1"/>
                </a:solidFill>
              </a:rPr>
              <a:t>.</a:t>
            </a:r>
            <a:r>
              <a:rPr lang="en-US" sz="3600" b="1" dirty="0" err="1">
                <a:solidFill>
                  <a:schemeClr val="bg1"/>
                </a:solidFill>
              </a:rPr>
              <a:t>secretignore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28F03-FBBD-32F8-7EBC-3B7AA4B80360}"/>
              </a:ext>
            </a:extLst>
          </p:cNvPr>
          <p:cNvSpPr txBox="1"/>
          <p:nvPr/>
        </p:nvSpPr>
        <p:spPr>
          <a:xfrm>
            <a:off x="416200" y="1856395"/>
            <a:ext cx="50740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White List (белый список)</a:t>
            </a:r>
            <a:r>
              <a:rPr lang="ru-RU" dirty="0">
                <a:solidFill>
                  <a:schemeClr val="bg1"/>
                </a:solidFill>
              </a:rPr>
              <a:t> — это механизм </a:t>
            </a:r>
            <a:r>
              <a:rPr lang="ru-RU" b="1" dirty="0">
                <a:solidFill>
                  <a:schemeClr val="bg1"/>
                </a:solidFill>
              </a:rPr>
              <a:t>исключения ложных срабатываний</a:t>
            </a:r>
            <a:r>
              <a:rPr lang="ru-RU" dirty="0">
                <a:solidFill>
                  <a:schemeClr val="bg1"/>
                </a:solidFill>
              </a:rPr>
              <a:t>, который позволяет указать файлы, строки или паттерны, которые </a:t>
            </a:r>
            <a:r>
              <a:rPr lang="ru-RU" b="1" dirty="0">
                <a:solidFill>
                  <a:schemeClr val="bg1"/>
                </a:solidFill>
              </a:rPr>
              <a:t>НЕ нужно считать секретами</a:t>
            </a:r>
            <a:r>
              <a:rPr lang="ru-RU" dirty="0">
                <a:solidFill>
                  <a:schemeClr val="bg1"/>
                </a:solidFill>
              </a:rPr>
              <a:t>, даже если они подходят под правила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39A32F-27D8-24AD-9BA0-A1BFD890F3CD}"/>
              </a:ext>
            </a:extLst>
          </p:cNvPr>
          <p:cNvSpPr txBox="1"/>
          <p:nvPr/>
        </p:nvSpPr>
        <p:spPr>
          <a:xfrm>
            <a:off x="6023610" y="1393053"/>
            <a:ext cx="58367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Размещенный в корне проекта </a:t>
            </a:r>
            <a:r>
              <a:rPr lang="en-US" dirty="0" err="1">
                <a:solidFill>
                  <a:schemeClr val="bg1"/>
                </a:solidFill>
              </a:rPr>
              <a:t>secretignore</a:t>
            </a:r>
            <a:r>
              <a:rPr lang="ru-RU" dirty="0">
                <a:solidFill>
                  <a:schemeClr val="bg1"/>
                </a:solidFill>
              </a:rPr>
              <a:t> , он работает по аналогии с .</a:t>
            </a:r>
            <a:r>
              <a:rPr lang="ru-RU" dirty="0" err="1">
                <a:solidFill>
                  <a:schemeClr val="bg1"/>
                </a:solidFill>
              </a:rPr>
              <a:t>gitignore</a:t>
            </a:r>
            <a:r>
              <a:rPr lang="ru-RU" dirty="0">
                <a:solidFill>
                  <a:schemeClr val="bg1"/>
                </a:solidFill>
              </a:rPr>
              <a:t> — каждая строка задает паттерн для исключения. При обходе директории через </a:t>
            </a:r>
            <a:r>
              <a:rPr lang="ru-RU" dirty="0" err="1">
                <a:solidFill>
                  <a:schemeClr val="bg1"/>
                </a:solidFill>
              </a:rPr>
              <a:t>os.walk</a:t>
            </a:r>
            <a:r>
              <a:rPr lang="ru-RU" dirty="0">
                <a:solidFill>
                  <a:schemeClr val="bg1"/>
                </a:solidFill>
              </a:rPr>
              <a:t>() система вычисляет относительные пути и проверяет их по паттернам игнорирования. Такой подход позволяет гибко управлять процессом сканирования без изменения кода — достаточно отредактировать файл .</a:t>
            </a:r>
            <a:r>
              <a:rPr lang="ru-RU" dirty="0" err="1">
                <a:solidFill>
                  <a:schemeClr val="bg1"/>
                </a:solidFill>
              </a:rPr>
              <a:t>secretignore</a:t>
            </a:r>
            <a:r>
              <a:rPr lang="ru-RU" dirty="0">
                <a:solidFill>
                  <a:schemeClr val="bg1"/>
                </a:solidFill>
              </a:rPr>
              <a:t>, и указанные файлы будут автоматически пропущены при следующем запуске.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AE705-6FBE-268F-7F52-08BC043490EF}"/>
              </a:ext>
            </a:extLst>
          </p:cNvPr>
          <p:cNvSpPr txBox="1"/>
          <p:nvPr/>
        </p:nvSpPr>
        <p:spPr>
          <a:xfrm>
            <a:off x="2342667" y="4948568"/>
            <a:ext cx="614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Расположение: </a:t>
            </a:r>
            <a:r>
              <a:rPr lang="en-US" dirty="0">
                <a:solidFill>
                  <a:schemeClr val="bg1"/>
                </a:solidFill>
              </a:rPr>
              <a:t>file_handler.py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collect_files</a:t>
            </a:r>
            <a:r>
              <a:rPr lang="ru-RU" dirty="0">
                <a:solidFill>
                  <a:schemeClr val="bg1"/>
                </a:solidFill>
              </a:rPr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4311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D6A43-62A6-AD8A-3F5D-916FD360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2B1173-5024-ABD5-9420-5278F837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3621E5-E13B-878E-2909-BC715AD2F52C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CLI </a:t>
            </a:r>
            <a:r>
              <a:rPr lang="ru-RU" sz="3600" b="1" dirty="0">
                <a:solidFill>
                  <a:schemeClr val="bg1"/>
                </a:solidFill>
              </a:rPr>
              <a:t>интерфейс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FD5B3-7729-6D39-9591-396A92283043}"/>
              </a:ext>
            </a:extLst>
          </p:cNvPr>
          <p:cNvSpPr txBox="1"/>
          <p:nvPr/>
        </p:nvSpPr>
        <p:spPr>
          <a:xfrm>
            <a:off x="342900" y="1111569"/>
            <a:ext cx="69113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CLI (Command Line Interface) — это консольная утилита для запуска сканера без графического интерфейса. Идеально подходит для автоматизации, CI/CD </a:t>
            </a:r>
            <a:r>
              <a:rPr lang="ru-RU" dirty="0" err="1">
                <a:solidFill>
                  <a:schemeClr val="bg1"/>
                </a:solidFill>
              </a:rPr>
              <a:t>пайплайнов</a:t>
            </a:r>
            <a:r>
              <a:rPr lang="ru-RU" dirty="0">
                <a:solidFill>
                  <a:schemeClr val="bg1"/>
                </a:solidFill>
              </a:rPr>
              <a:t> и локального использования.</a:t>
            </a:r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CLI работает </a:t>
            </a:r>
            <a:r>
              <a:rPr lang="ru-RU" b="1" dirty="0">
                <a:solidFill>
                  <a:schemeClr val="bg1"/>
                </a:solidFill>
              </a:rPr>
              <a:t>напрямую с движком</a:t>
            </a:r>
            <a:r>
              <a:rPr lang="ru-RU" dirty="0">
                <a:solidFill>
                  <a:schemeClr val="bg1"/>
                </a:solidFill>
              </a:rPr>
              <a:t>, без запуска API-сервера — это </a:t>
            </a:r>
            <a:r>
              <a:rPr lang="ru-RU" b="1" dirty="0">
                <a:solidFill>
                  <a:schemeClr val="bg1"/>
                </a:solidFill>
              </a:rPr>
              <a:t>максимальная скорость</a:t>
            </a:r>
            <a:r>
              <a:rPr lang="ru-RU" dirty="0">
                <a:solidFill>
                  <a:schemeClr val="bg1"/>
                </a:solidFill>
              </a:rPr>
              <a:t> и </a:t>
            </a:r>
            <a:r>
              <a:rPr lang="ru-RU" b="1" dirty="0">
                <a:solidFill>
                  <a:schemeClr val="bg1"/>
                </a:solidFill>
              </a:rPr>
              <a:t>автономность</a:t>
            </a:r>
            <a:r>
              <a:rPr lang="ru-RU" dirty="0">
                <a:solidFill>
                  <a:schemeClr val="bg1"/>
                </a:solidFill>
              </a:rPr>
              <a:t>.</a:t>
            </a:r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8E988-04E9-4179-6D19-B23DA5EA2DB1}"/>
              </a:ext>
            </a:extLst>
          </p:cNvPr>
          <p:cNvSpPr txBox="1"/>
          <p:nvPr/>
        </p:nvSpPr>
        <p:spPr>
          <a:xfrm>
            <a:off x="4395293" y="3467846"/>
            <a:ext cx="48760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Пользователь: </a:t>
            </a:r>
            <a:r>
              <a:rPr lang="ru-RU" dirty="0" err="1">
                <a:solidFill>
                  <a:schemeClr val="bg1"/>
                </a:solidFill>
              </a:rPr>
              <a:t>python</a:t>
            </a:r>
            <a:r>
              <a:rPr lang="ru-RU" dirty="0">
                <a:solidFill>
                  <a:schemeClr val="bg1"/>
                </a:solidFill>
              </a:rPr>
              <a:t> cli.py ./</a:t>
            </a:r>
            <a:r>
              <a:rPr lang="ru-RU" dirty="0" err="1">
                <a:solidFill>
                  <a:schemeClr val="bg1"/>
                </a:solidFill>
              </a:rPr>
              <a:t>project</a:t>
            </a:r>
            <a:endParaRPr lang="ru-RU" dirty="0">
              <a:solidFill>
                <a:schemeClr val="bg1"/>
              </a:solidFill>
            </a:endParaRPr>
          </a:p>
          <a:p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                   ↓Парсинг аргументов (</a:t>
            </a:r>
            <a:r>
              <a:rPr lang="ru-RU" dirty="0" err="1">
                <a:solidFill>
                  <a:schemeClr val="bg1"/>
                </a:solidFill>
              </a:rPr>
              <a:t>argparse</a:t>
            </a:r>
            <a:r>
              <a:rPr lang="ru-RU" dirty="0">
                <a:solidFill>
                  <a:schemeClr val="bg1"/>
                </a:solidFill>
              </a:rPr>
              <a:t>)                                  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                    ↓ Загрузка правил из YAML                    ↓ Прямой вызов </a:t>
            </a:r>
            <a:r>
              <a:rPr lang="ru-RU" dirty="0" err="1">
                <a:solidFill>
                  <a:schemeClr val="bg1"/>
                </a:solidFill>
              </a:rPr>
              <a:t>Scanner</a:t>
            </a:r>
            <a:r>
              <a:rPr lang="ru-RU" dirty="0">
                <a:solidFill>
                  <a:schemeClr val="bg1"/>
                </a:solidFill>
              </a:rPr>
              <a:t> Engine (без HTTP!)                    ↓📊 Форматирование вывода (</a:t>
            </a:r>
            <a:r>
              <a:rPr lang="ru-RU" dirty="0" err="1">
                <a:solidFill>
                  <a:schemeClr val="bg1"/>
                </a:solidFill>
              </a:rPr>
              <a:t>table</a:t>
            </a:r>
            <a:r>
              <a:rPr lang="ru-RU" dirty="0">
                <a:solidFill>
                  <a:schemeClr val="bg1"/>
                </a:solidFill>
              </a:rPr>
              <a:t>/</a:t>
            </a:r>
            <a:r>
              <a:rPr lang="ru-RU" dirty="0" err="1">
                <a:solidFill>
                  <a:schemeClr val="bg1"/>
                </a:solidFill>
              </a:rPr>
              <a:t>json</a:t>
            </a:r>
            <a:r>
              <a:rPr lang="ru-RU" dirty="0">
                <a:solidFill>
                  <a:schemeClr val="bg1"/>
                </a:solidFill>
              </a:rPr>
              <a:t>/</a:t>
            </a:r>
            <a:r>
              <a:rPr lang="ru-RU" dirty="0" err="1">
                <a:solidFill>
                  <a:schemeClr val="bg1"/>
                </a:solidFill>
              </a:rPr>
              <a:t>csv</a:t>
            </a:r>
            <a:r>
              <a:rPr lang="ru-RU" dirty="0">
                <a:solidFill>
                  <a:schemeClr val="bg1"/>
                </a:solidFill>
              </a:rPr>
              <a:t>)                    ↓🎨 Цветной вывод в консоль</a:t>
            </a:r>
          </a:p>
        </p:txBody>
      </p:sp>
    </p:spTree>
    <p:extLst>
      <p:ext uri="{BB962C8B-B14F-4D97-AF65-F5344CB8AC3E}">
        <p14:creationId xmlns:p14="http://schemas.microsoft.com/office/powerpoint/2010/main" val="3716731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72FF6-90C2-D4B0-1C87-21809C71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4C0899-FB08-D24D-0ADC-1F57507B46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E874EF-D220-36FE-9594-54641FF16A62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Форматы вывода </a:t>
            </a:r>
            <a:r>
              <a:rPr lang="en-US" sz="3600" b="1" dirty="0">
                <a:solidFill>
                  <a:schemeClr val="bg1"/>
                </a:solidFill>
              </a:rPr>
              <a:t>CLI-</a:t>
            </a:r>
            <a:r>
              <a:rPr lang="ru-RU" sz="3600" b="1" dirty="0">
                <a:solidFill>
                  <a:schemeClr val="bg1"/>
                </a:solidFill>
              </a:rPr>
              <a:t>утилиты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2C719-A5EA-3F4A-2F00-FFBA7F176BEA}"/>
              </a:ext>
            </a:extLst>
          </p:cNvPr>
          <p:cNvSpPr txBox="1"/>
          <p:nvPr/>
        </p:nvSpPr>
        <p:spPr>
          <a:xfrm>
            <a:off x="325152" y="1222116"/>
            <a:ext cx="86969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able (</a:t>
            </a:r>
            <a:r>
              <a:rPr lang="ru-RU" b="1" dirty="0">
                <a:solidFill>
                  <a:schemeClr val="bg1"/>
                </a:solidFill>
              </a:rPr>
              <a:t>для людей)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text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┌──────┬─────────────────┬────────┬──────────────┬─────────┐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│ Line │ Rule            │ Risk   │ Secret       │ Entropy │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├──────┼─────────────────┼────────┼──────────────┼─────────┤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│ 15   │ AWS Access Key  │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🔴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HIGH │ AKIA***MPLE │ 3.68    │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│ 42   │ Password        │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</a:rPr>
              <a:t>🟡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MED  │ pass***123  │ 3.46    │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└──────┴─────────────────┴────────┴──────────────┴─────────┘</a:t>
            </a:r>
          </a:p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 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D3B42-D33F-2206-5450-5E81F6D337B2}"/>
              </a:ext>
            </a:extLst>
          </p:cNvPr>
          <p:cNvSpPr txBox="1"/>
          <p:nvPr/>
        </p:nvSpPr>
        <p:spPr>
          <a:xfrm>
            <a:off x="342900" y="4242938"/>
            <a:ext cx="60924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Pre-commit hook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bash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#!/bin/sh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# .git/hooks/pre-commit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python cli.py --format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json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| grep -q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338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6B11-EBF9-5125-DABA-6416D0C1B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B93372-9EB7-78A4-F459-C13D2E1BAE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0FA248-D2DB-C1C0-7CC5-A57A6B0B5C2C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Форматы вывода </a:t>
            </a:r>
            <a:r>
              <a:rPr lang="en-US" sz="3600" b="1" dirty="0">
                <a:solidFill>
                  <a:schemeClr val="bg1"/>
                </a:solidFill>
              </a:rPr>
              <a:t>CLI-</a:t>
            </a:r>
            <a:r>
              <a:rPr lang="ru-RU" sz="3600" b="1" dirty="0">
                <a:solidFill>
                  <a:schemeClr val="bg1"/>
                </a:solidFill>
              </a:rPr>
              <a:t>утилиты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FB2D7-D2B4-ABC9-B152-CEBE45C5CD46}"/>
              </a:ext>
            </a:extLst>
          </p:cNvPr>
          <p:cNvSpPr txBox="1"/>
          <p:nvPr/>
        </p:nvSpPr>
        <p:spPr>
          <a:xfrm>
            <a:off x="342900" y="111156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CSV (</a:t>
            </a:r>
            <a:r>
              <a:rPr lang="ru-RU" b="1" dirty="0">
                <a:solidFill>
                  <a:schemeClr val="bg1"/>
                </a:solidFill>
              </a:rPr>
              <a:t>для </a:t>
            </a:r>
            <a:r>
              <a:rPr lang="en-US" b="1" dirty="0">
                <a:solidFill>
                  <a:schemeClr val="bg1"/>
                </a:solidFill>
              </a:rPr>
              <a:t>Excel)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csv</a:t>
            </a:r>
          </a:p>
          <a:p>
            <a:pPr>
              <a:buNone/>
            </a:pP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File,Line,Rule,Risk,Secret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config.py,15,AWS Access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Key,high,AKIA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***MPLE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"critical" &amp;&amp; exit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EC796-8707-F3F8-96A4-876C62816071}"/>
              </a:ext>
            </a:extLst>
          </p:cNvPr>
          <p:cNvSpPr txBox="1"/>
          <p:nvPr/>
        </p:nvSpPr>
        <p:spPr>
          <a:xfrm>
            <a:off x="452770" y="3375513"/>
            <a:ext cx="696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GitHub Actions</a:t>
            </a:r>
          </a:p>
          <a:p>
            <a:pPr>
              <a:buNone/>
            </a:pPr>
            <a:r>
              <a:rPr lang="en-US" dirty="0" err="1">
                <a:solidFill>
                  <a:schemeClr val="bg1"/>
                </a:solidFill>
              </a:rPr>
              <a:t>yaml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- name: Scan for secrets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run: |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python cli.py ${{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github.workspace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}} --format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json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--output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</a:rPr>
              <a:t>report.json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CC362-A69C-D8C6-3275-48E05C5BEE60}"/>
              </a:ext>
            </a:extLst>
          </p:cNvPr>
          <p:cNvSpPr txBox="1"/>
          <p:nvPr/>
        </p:nvSpPr>
        <p:spPr>
          <a:xfrm>
            <a:off x="8154817" y="1390354"/>
            <a:ext cx="32994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JSON (</a:t>
            </a:r>
            <a:r>
              <a:rPr lang="ru-RU" b="1" dirty="0">
                <a:solidFill>
                  <a:schemeClr val="bg1"/>
                </a:solidFill>
              </a:rPr>
              <a:t>для машин)</a:t>
            </a:r>
          </a:p>
          <a:p>
            <a:pPr>
              <a:buNone/>
            </a:pPr>
            <a:r>
              <a:rPr lang="en-US" dirty="0" err="1">
                <a:solidFill>
                  <a:schemeClr val="bg1"/>
                </a:solidFill>
              </a:rPr>
              <a:t>json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[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{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"file": "config.py",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"line": 15,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"rule": "AWS Access Key",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"risk": "high",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  "secret": "AKIA***MPLE"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  }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58201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C1174-C399-358C-D260-4F9542EA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4C93F1-730E-9557-1666-9545112AD1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DBB831-619C-C4F9-D3B0-D9DD134BD3B1}"/>
              </a:ext>
            </a:extLst>
          </p:cNvPr>
          <p:cNvSpPr txBox="1"/>
          <p:nvPr/>
        </p:nvSpPr>
        <p:spPr>
          <a:xfrm>
            <a:off x="342900" y="129676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Наш инструмент имеет полноценный консольный интерфейс для встраивания в конвейеры </a:t>
            </a:r>
            <a:r>
              <a:rPr lang="en-US" dirty="0">
                <a:solidFill>
                  <a:schemeClr val="bg1"/>
                </a:solidFill>
              </a:rPr>
              <a:t>CI/CD. </a:t>
            </a:r>
            <a:r>
              <a:rPr lang="ru-RU" dirty="0">
                <a:solidFill>
                  <a:schemeClr val="bg1"/>
                </a:solidFill>
              </a:rPr>
              <a:t>Его можно запустить внутри собранного </a:t>
            </a:r>
            <a:r>
              <a:rPr lang="en-US" dirty="0">
                <a:solidFill>
                  <a:schemeClr val="bg1"/>
                </a:solidFill>
              </a:rPr>
              <a:t>Docker-</a:t>
            </a:r>
            <a:r>
              <a:rPr lang="ru-RU" dirty="0">
                <a:solidFill>
                  <a:schemeClr val="bg1"/>
                </a:solidFill>
              </a:rPr>
              <a:t>контейнера без поднятия веб-сервера.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F237D-1593-396F-5928-45903F46F49F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Использование </a:t>
            </a:r>
            <a:r>
              <a:rPr lang="en-US" sz="3600" b="1" dirty="0">
                <a:solidFill>
                  <a:schemeClr val="bg1"/>
                </a:solidFill>
              </a:rPr>
              <a:t>CLI-</a:t>
            </a:r>
            <a:r>
              <a:rPr lang="ru-RU" sz="3600" b="1" dirty="0">
                <a:solidFill>
                  <a:schemeClr val="bg1"/>
                </a:solidFill>
              </a:rPr>
              <a:t>утилиты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AB16B-0D7F-C383-25C7-A7C38A24D7DF}"/>
              </a:ext>
            </a:extLst>
          </p:cNvPr>
          <p:cNvSpPr txBox="1"/>
          <p:nvPr/>
        </p:nvSpPr>
        <p:spPr>
          <a:xfrm>
            <a:off x="342900" y="2998979"/>
            <a:ext cx="49556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Для просмотра красивого цветного отчета в терминале: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docker-compose run --rm backend python cli.py ./tests/</a:t>
            </a:r>
            <a:r>
              <a:rPr lang="en-US" dirty="0" err="1">
                <a:solidFill>
                  <a:schemeClr val="bg1"/>
                </a:solidFill>
              </a:rPr>
              <a:t>test_samples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796E1-5D6B-8A9F-0984-F84361677929}"/>
              </a:ext>
            </a:extLst>
          </p:cNvPr>
          <p:cNvSpPr txBox="1"/>
          <p:nvPr/>
        </p:nvSpPr>
        <p:spPr>
          <a:xfrm>
            <a:off x="6438900" y="2998979"/>
            <a:ext cx="53526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Для экспорта отчета в чистый </a:t>
            </a:r>
            <a:r>
              <a:rPr lang="en-US" dirty="0">
                <a:solidFill>
                  <a:schemeClr val="bg1"/>
                </a:solidFill>
              </a:rPr>
              <a:t>JSON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docker-compose run --rm backend python cli.py ./tests/</a:t>
            </a:r>
            <a:r>
              <a:rPr lang="en-US" dirty="0" err="1">
                <a:solidFill>
                  <a:schemeClr val="bg1"/>
                </a:solidFill>
              </a:rPr>
              <a:t>test_samples</a:t>
            </a:r>
            <a:r>
              <a:rPr lang="en-US" dirty="0">
                <a:solidFill>
                  <a:schemeClr val="bg1"/>
                </a:solidFill>
              </a:rPr>
              <a:t> --format </a:t>
            </a:r>
            <a:r>
              <a:rPr lang="en-US" dirty="0" err="1">
                <a:solidFill>
                  <a:schemeClr val="bg1"/>
                </a:solidFill>
              </a:rPr>
              <a:t>json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699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B4C6-1F3A-0CBB-2547-E76C0BC7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07789D-733C-4DA1-4449-7C38AAE60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DA6FF3-5705-3F3A-9AC6-906330E2231B}"/>
              </a:ext>
            </a:extLst>
          </p:cNvPr>
          <p:cNvSpPr txBox="1"/>
          <p:nvPr/>
        </p:nvSpPr>
        <p:spPr>
          <a:xfrm>
            <a:off x="342900" y="1582340"/>
            <a:ext cx="89614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Веб-интерфейс — это </a:t>
            </a:r>
            <a:r>
              <a:rPr lang="ru-RU" dirty="0" err="1">
                <a:solidFill>
                  <a:schemeClr val="bg1"/>
                </a:solidFill>
              </a:rPr>
              <a:t>React</a:t>
            </a:r>
            <a:r>
              <a:rPr lang="ru-RU" dirty="0">
                <a:solidFill>
                  <a:schemeClr val="bg1"/>
                </a:solidFill>
              </a:rPr>
              <a:t>-приложение, которое предоставляет удобный графический интерфейс для взаимодействия со сканером секретов.</a:t>
            </a:r>
          </a:p>
          <a:p>
            <a:r>
              <a:rPr lang="ru-RU" dirty="0">
                <a:solidFill>
                  <a:schemeClr val="bg1"/>
                </a:solidFill>
              </a:rPr>
              <a:t>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Визуализация результатов сканирования в понятном виде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Удобная загрузка ZIP-файлов через </a:t>
            </a:r>
            <a:r>
              <a:rPr lang="ru-RU" dirty="0" err="1">
                <a:solidFill>
                  <a:schemeClr val="bg1"/>
                </a:solidFill>
              </a:rPr>
              <a:t>drag-and-drop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Просмотр детальной информации о найденных секретах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Управление правилами поиска (добавление/удаление)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 Дашборд со статистикой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E01DE-EBC8-2A7E-5FBA-97E22369B5A4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960428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4A7F7-6E4F-8B1E-FCB7-CC17A7CE6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62D365-2AD3-9CB6-BBCB-A465F707E3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9E07E1-E5D0-80C1-DB89-EDBC2DF98AE8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платформа 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3070A3-2DDF-E568-9529-81D872D75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0" t="14328" r="7681" b="-1493"/>
          <a:stretch>
            <a:fillRect/>
          </a:stretch>
        </p:blipFill>
        <p:spPr>
          <a:xfrm>
            <a:off x="1023583" y="1064300"/>
            <a:ext cx="9853684" cy="589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4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A3AF-5AFC-BD70-F300-A5E99150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86F5A4-953E-0797-BE40-C3A2E422A0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05C91E-C1FF-3C8D-274D-8D3C8234B9DB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платформа – выбор файла для сканирования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7B4215-BC8D-9C6E-C8FF-B38E88D9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0" t="14527" b="7065"/>
          <a:stretch>
            <a:fillRect/>
          </a:stretch>
        </p:blipFill>
        <p:spPr>
          <a:xfrm>
            <a:off x="513082" y="1422663"/>
            <a:ext cx="11165836" cy="543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53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BF91-6DDC-8B07-E1B2-D255C513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8F31B7-B5B7-1F49-A21C-CCB00FC6F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305995-2A73-BCED-DDAE-A77B860A0215}"/>
              </a:ext>
            </a:extLst>
          </p:cNvPr>
          <p:cNvSpPr txBox="1"/>
          <p:nvPr/>
        </p:nvSpPr>
        <p:spPr>
          <a:xfrm>
            <a:off x="2392326" y="2233091"/>
            <a:ext cx="2106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Web-</a:t>
            </a:r>
            <a:r>
              <a:rPr lang="ru-RU" dirty="0">
                <a:solidFill>
                  <a:schemeClr val="bg1"/>
                </a:solidFill>
              </a:rPr>
              <a:t>интерфейс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C6E76-3AC3-DD9B-29CE-40F892734FBF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интерфейс – выбор правил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8A86A8-E6DF-DB08-4049-3D70EB6282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462"/>
          <a:stretch>
            <a:fillRect/>
          </a:stretch>
        </p:blipFill>
        <p:spPr>
          <a:xfrm>
            <a:off x="64515" y="1344188"/>
            <a:ext cx="12062969" cy="551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25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34F-FF01-83BD-5F84-7CAC1525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8F90B4-59FF-3E69-E534-065E4F107C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5ACAD6-A05A-8614-B170-91ABD903B9E4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 интерфейс – окно создания нового правила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713C8A-AEEB-1994-924F-BCCF61459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07" t="29111" r="33738" b="14445"/>
          <a:stretch>
            <a:fillRect/>
          </a:stretch>
        </p:blipFill>
        <p:spPr>
          <a:xfrm>
            <a:off x="3093719" y="1504931"/>
            <a:ext cx="5177127" cy="528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93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2A061-669C-FE4A-C69E-0E2EB5AFC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6E3AA3-002E-BB60-EFFC-F2CDE807A6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B3E6FF-E13E-AA68-4912-E859A2CF9952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 интерфейс –  </a:t>
            </a:r>
            <a:r>
              <a:rPr lang="ru-RU" sz="3600" b="1" dirty="0" err="1">
                <a:solidFill>
                  <a:schemeClr val="bg1"/>
                </a:solidFill>
              </a:rPr>
              <a:t>дитали</a:t>
            </a:r>
            <a:r>
              <a:rPr lang="ru-RU" sz="3600" b="1" dirty="0">
                <a:solidFill>
                  <a:schemeClr val="bg1"/>
                </a:solidFill>
              </a:rPr>
              <a:t> правила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58F815-7C60-CA68-7F4C-84BB51D503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18" t="20895" r="40426" b="9111"/>
          <a:stretch>
            <a:fillRect/>
          </a:stretch>
        </p:blipFill>
        <p:spPr>
          <a:xfrm>
            <a:off x="3707130" y="997500"/>
            <a:ext cx="4632960" cy="58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67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16B5-45BB-1A31-767D-5CC6849D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380CB8-7A66-644B-C559-B2D65B339D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5A9883-7763-1977-A692-491C2FAB3EB9}"/>
              </a:ext>
            </a:extLst>
          </p:cNvPr>
          <p:cNvSpPr txBox="1"/>
          <p:nvPr/>
        </p:nvSpPr>
        <p:spPr>
          <a:xfrm>
            <a:off x="342900" y="232619"/>
            <a:ext cx="11361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 интерфейс – визуализация результатов сканирования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72CA30-8935-3515-47E4-774E7EA9B9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9" t="6942" r="4784" b="10221"/>
          <a:stretch>
            <a:fillRect/>
          </a:stretch>
        </p:blipFill>
        <p:spPr>
          <a:xfrm>
            <a:off x="415289" y="1555845"/>
            <a:ext cx="11361421" cy="530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09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B0D1-88A7-A8AF-442E-54DB83B2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6904BC-7241-04A8-9A91-ABA1F2161D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4106CE-F771-6071-101C-F9810A53F4FF}"/>
              </a:ext>
            </a:extLst>
          </p:cNvPr>
          <p:cNvSpPr txBox="1"/>
          <p:nvPr/>
        </p:nvSpPr>
        <p:spPr>
          <a:xfrm>
            <a:off x="342900" y="232619"/>
            <a:ext cx="11361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 интерфейс – визуализация результатов сканирования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0B3CDA-4D25-FBB3-E1D1-1B95F7BB8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093" t="49800" r="4784" b="35274"/>
          <a:stretch>
            <a:fillRect/>
          </a:stretch>
        </p:blipFill>
        <p:spPr>
          <a:xfrm>
            <a:off x="5090134" y="1665567"/>
            <a:ext cx="7101866" cy="168003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D16868-2A24-7576-54E1-6CDFE2CE7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6" t="51409" r="74261" b="40307"/>
          <a:stretch>
            <a:fillRect/>
          </a:stretch>
        </p:blipFill>
        <p:spPr>
          <a:xfrm>
            <a:off x="7060356" y="2674194"/>
            <a:ext cx="4643964" cy="8382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21C3B8-3887-701D-9BC9-5B37508D18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49" t="73070" r="18125" b="9427"/>
          <a:stretch>
            <a:fillRect/>
          </a:stretch>
        </p:blipFill>
        <p:spPr>
          <a:xfrm>
            <a:off x="-2293" y="4454251"/>
            <a:ext cx="12051806" cy="168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56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41F5-0ADC-401F-4299-CAA16E5B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F262A3-0964-25CE-AFF8-52568BFBF0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9D5985-0C6E-17E7-E44A-566437C9ABB1}"/>
              </a:ext>
            </a:extLst>
          </p:cNvPr>
          <p:cNvSpPr txBox="1"/>
          <p:nvPr/>
        </p:nvSpPr>
        <p:spPr>
          <a:xfrm>
            <a:off x="342900" y="232619"/>
            <a:ext cx="11361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платформа  - детали уязвимости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4A5012-E139-D365-9CA7-6C89F4044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97" t="24270" r="22126" b="9860"/>
          <a:stretch>
            <a:fillRect/>
          </a:stretch>
        </p:blipFill>
        <p:spPr>
          <a:xfrm>
            <a:off x="2173559" y="1120558"/>
            <a:ext cx="7700101" cy="550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95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A567E-EA75-1338-849D-BFD1E01D3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193E1D-29B5-7D9B-8CA3-585A3AA6CE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6AEBD0D-A1B6-DFDA-75D0-AB9BAB303B02}"/>
              </a:ext>
            </a:extLst>
          </p:cNvPr>
          <p:cNvSpPr/>
          <p:nvPr/>
        </p:nvSpPr>
        <p:spPr>
          <a:xfrm>
            <a:off x="474562" y="2187732"/>
            <a:ext cx="6585995" cy="2905246"/>
          </a:xfrm>
          <a:prstGeom prst="rect">
            <a:avLst/>
          </a:prstGeom>
          <a:solidFill>
            <a:srgbClr val="68399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4CFC6-5813-93C5-9241-F455FCBBCCC0}"/>
              </a:ext>
            </a:extLst>
          </p:cNvPr>
          <p:cNvSpPr txBox="1"/>
          <p:nvPr/>
        </p:nvSpPr>
        <p:spPr>
          <a:xfrm>
            <a:off x="342900" y="232619"/>
            <a:ext cx="11361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Web-</a:t>
            </a:r>
            <a:r>
              <a:rPr lang="ru-RU" sz="3600" b="1" dirty="0">
                <a:solidFill>
                  <a:schemeClr val="bg1"/>
                </a:solidFill>
              </a:rPr>
              <a:t> интерфейс  - версия для </a:t>
            </a:r>
          </a:p>
          <a:p>
            <a:r>
              <a:rPr lang="ru-RU" sz="3600" b="1" dirty="0">
                <a:solidFill>
                  <a:schemeClr val="bg1"/>
                </a:solidFill>
              </a:rPr>
              <a:t>мобильных устройств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84CEBF-DC87-3986-849B-004FFB8A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05" t="3393" r="20958" b="9695"/>
          <a:stretch>
            <a:fillRect/>
          </a:stretch>
        </p:blipFill>
        <p:spPr>
          <a:xfrm>
            <a:off x="7535119" y="422711"/>
            <a:ext cx="3157863" cy="64352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EC6E0D-A4D0-D736-3835-BB7A986CDC28}"/>
              </a:ext>
            </a:extLst>
          </p:cNvPr>
          <p:cNvSpPr txBox="1"/>
          <p:nvPr/>
        </p:nvSpPr>
        <p:spPr>
          <a:xfrm>
            <a:off x="810227" y="2763192"/>
            <a:ext cx="59030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Полностью адаптивный веб-интерфейс, спроектированный не только для десктопов, но и для смартфонов. Позволяет Тимлидам и офицерам ИБ (CISO) оперативно просматривать отчеты об утечках и управлять правилами прямо с телефона при получении экстренных </a:t>
            </a:r>
            <a:r>
              <a:rPr lang="ru-RU" dirty="0" err="1">
                <a:solidFill>
                  <a:schemeClr val="bg1"/>
                </a:solidFill>
              </a:rPr>
              <a:t>алертов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990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C8BBE-505D-7331-CC63-A902CE69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625A03-2E69-A077-5DDD-A06AAED6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19DDAE-1F91-BA09-4791-D876E2BC2563}"/>
              </a:ext>
            </a:extLst>
          </p:cNvPr>
          <p:cNvSpPr txBox="1"/>
          <p:nvPr/>
        </p:nvSpPr>
        <p:spPr>
          <a:xfrm>
            <a:off x="1057245" y="969698"/>
            <a:ext cx="1007750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Спасибо за внимание!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ADA382-983E-E0E5-2B64-16A0E24EB815}"/>
              </a:ext>
            </a:extLst>
          </p:cNvPr>
          <p:cNvSpPr/>
          <p:nvPr/>
        </p:nvSpPr>
        <p:spPr>
          <a:xfrm>
            <a:off x="1007964" y="3223550"/>
            <a:ext cx="2720050" cy="2720050"/>
          </a:xfrm>
          <a:prstGeom prst="rect">
            <a:avLst/>
          </a:prstGeom>
          <a:solidFill>
            <a:srgbClr val="DD32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625D13-36FB-E5E2-8BCF-A9A8C908FAD1}"/>
              </a:ext>
            </a:extLst>
          </p:cNvPr>
          <p:cNvSpPr/>
          <p:nvPr/>
        </p:nvSpPr>
        <p:spPr>
          <a:xfrm>
            <a:off x="8209610" y="3288693"/>
            <a:ext cx="2720050" cy="2720050"/>
          </a:xfrm>
          <a:prstGeom prst="rect">
            <a:avLst/>
          </a:prstGeom>
          <a:solidFill>
            <a:srgbClr val="FFA60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38F35F-DEA0-D046-B3D8-F3CD74D2BB67}"/>
              </a:ext>
            </a:extLst>
          </p:cNvPr>
          <p:cNvSpPr/>
          <p:nvPr/>
        </p:nvSpPr>
        <p:spPr>
          <a:xfrm>
            <a:off x="4481596" y="3762159"/>
            <a:ext cx="2720050" cy="2720050"/>
          </a:xfrm>
          <a:prstGeom prst="rect">
            <a:avLst/>
          </a:prstGeom>
          <a:solidFill>
            <a:srgbClr val="388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C6D25-E140-CB27-96EE-FBCE102E993C}"/>
              </a:ext>
            </a:extLst>
          </p:cNvPr>
          <p:cNvSpPr txBox="1"/>
          <p:nvPr/>
        </p:nvSpPr>
        <p:spPr>
          <a:xfrm>
            <a:off x="1517733" y="4086011"/>
            <a:ext cx="17005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Рябова Анна</a:t>
            </a:r>
            <a:endParaRPr lang="ru-RU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57CA0-D992-69D9-7ED2-F39EFCD1FE54}"/>
              </a:ext>
            </a:extLst>
          </p:cNvPr>
          <p:cNvSpPr txBox="1"/>
          <p:nvPr/>
        </p:nvSpPr>
        <p:spPr>
          <a:xfrm>
            <a:off x="4991365" y="4583575"/>
            <a:ext cx="17005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Попов Никита</a:t>
            </a:r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B08C60-7EE5-EEC3-0AFD-316F4B5E2A0A}"/>
              </a:ext>
            </a:extLst>
          </p:cNvPr>
          <p:cNvSpPr txBox="1"/>
          <p:nvPr/>
        </p:nvSpPr>
        <p:spPr>
          <a:xfrm>
            <a:off x="8516714" y="4110109"/>
            <a:ext cx="21058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Морковки Никита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193459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2097</Words>
  <Application>Microsoft Office PowerPoint</Application>
  <PresentationFormat>Широкоэкранный</PresentationFormat>
  <Paragraphs>323</Paragraphs>
  <Slides>30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Aptos</vt:lpstr>
      <vt:lpstr>Aptos Black</vt:lpstr>
      <vt:lpstr>Aptos Display</vt:lpstr>
      <vt:lpstr>Arial</vt:lpstr>
      <vt:lpstr>Bahnschrift Condensed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Анна Рябова</dc:creator>
  <cp:lastModifiedBy>Анна Рябова</cp:lastModifiedBy>
  <cp:revision>10</cp:revision>
  <dcterms:created xsi:type="dcterms:W3CDTF">2026-03-07T13:12:04Z</dcterms:created>
  <dcterms:modified xsi:type="dcterms:W3CDTF">2026-03-08T01:38:56Z</dcterms:modified>
</cp:coreProperties>
</file>